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e6feffe-83ad-c6fd-5c93-d09f18761e9e}">
          <p14:sldIdLst>
            <p14:sldId id="256"/>
          </p14:sldIdLst>
        </p14:section>
        <p14:section name="개요" id="{fed2bc14-c867-4b1b-97c7-e9a005fe56fc}">
          <p14:sldIdLst>
            <p14:sldId id="257"/>
            <p14:sldId id="258"/>
          </p14:sldIdLst>
        </p14:section>
        <p14:section name="흐름" id="{432e0cbf-8b1f-cdbd-d6ee-892682766d0a}">
          <p14:sldIdLst>
            <p14:sldId id="259"/>
          </p14:sldIdLst>
        </p14:section>
        <p14:section name="고르고" id="{854177e4-3a75-e9f5-3aad-9a9a5fba2cfe}">
          <p14:sldIdLst>
            <p14:sldId id="260"/>
            <p14:sldId id="261"/>
          </p14:sldIdLst>
        </p14:section>
        <p14:section name="바꾸고" id="{7904f574-8dec-fc02-299e-483087a574fa}">
          <p14:sldIdLst>
            <p14:sldId id="262"/>
            <p14:sldId id="263"/>
          </p14:sldIdLst>
        </p14:section>
        <p14:section name="사용하고" id="{4b106cc9-2ed8-ed35-8722-1046154824e8}">
          <p14:sldIdLst>
            <p14:sldId id="264"/>
            <p14:sldId id="265"/>
            <p14:sldId id="266"/>
            <p14:sldId id="267"/>
            <p14:sldId id="268"/>
          </p14:sldIdLst>
        </p14:section>
        <p14:section name="학생 흐름" id="{23b66466-8eaa-8e76-adba-8092bfd4d24f}">
          <p14:sldIdLst>
            <p14:sldId id="269"/>
          </p14:sldIdLst>
        </p14:section>
        <p14:section name="결정" id="{41c04783-2db7-ab3f-e29c-4a9e2b5b6c0f}">
          <p14:sldIdLst>
            <p14:sldId id="270"/>
          </p14:sldIdLst>
        </p14:section>
        <p14:section name="일정" id="{8f24b641-e39a-c517-5585-94d529198353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A44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A556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A44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2A44"/>
                </a:solidFill>
              </a:rPr>
              <a:t>수업활동 스튜디오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F2A44"/>
                </a:solidFill>
              </a:rPr>
              <a:t>서비스 기획안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3"/>
                </a:solidFill>
              </a:rPr>
              <a:t>고르고 · 바꾸고 · 사용하고</a:t>
            </a:r>
            <a:endParaRPr lang="en-US" sz="2000" dirty="0"/>
          </a:p>
        </p:txBody>
      </p:sp>
      <p:sp>
        <p:nvSpPr>
          <p:cNvPr id="4" name="date-pill"/>
          <p:cNvSpPr/>
          <p:nvPr/>
        </p:nvSpPr>
        <p:spPr>
          <a:xfrm>
            <a:off x="822960" y="146304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" name="date"/>
          <p:cNvSpPr txBox="1"/>
          <p:nvPr/>
        </p:nvSpPr>
        <p:spPr>
          <a:xfrm>
            <a:off x="82296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2026. 10. 16</a:t>
            </a:r>
            <a:endParaRPr lang="en-US" sz="1400" dirty="0"/>
          </a:p>
        </p:txBody>
      </p:sp>
      <p:sp>
        <p:nvSpPr>
          <p:cNvPr id="6" name="cv-card-0"/>
          <p:cNvSpPr/>
          <p:nvPr/>
        </p:nvSpPr>
        <p:spPr>
          <a:xfrm>
            <a:off x="6858000" y="14173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EAF1F8"/>
          </a:solidFill>
          <a:ln w="25400">
            <a:solidFill>
              <a:srgbClr val="C9DAE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8000"/>
              </a:srgbClr>
            </a:outerShdw>
          </a:effectLst>
        </p:spPr>
      </p:sp>
      <p:sp>
        <p:nvSpPr>
          <p:cNvPr id="7" name="cv-head-0"/>
          <p:cNvSpPr/>
          <p:nvPr/>
        </p:nvSpPr>
        <p:spPr>
          <a:xfrm>
            <a:off x="6858000" y="1417320"/>
            <a:ext cx="3383280" cy="566928"/>
          </a:xfrm>
          <a:prstGeom prst="roundRect">
            <a:avLst>
              <a:gd name="adj" fmla="val 24194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8" name="cv-t-0"/>
          <p:cNvSpPr txBox="1"/>
          <p:nvPr/>
        </p:nvSpPr>
        <p:spPr>
          <a:xfrm>
            <a:off x="7086600" y="1417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고르고</a:t>
            </a:r>
            <a:endParaRPr lang="en-US" sz="1800" dirty="0"/>
          </a:p>
        </p:txBody>
      </p:sp>
      <p:sp>
        <p:nvSpPr>
          <p:cNvPr id="9" name="cv-ic-0"/>
          <p:cNvSpPr/>
          <p:nvPr/>
        </p:nvSpPr>
        <p:spPr>
          <a:xfrm>
            <a:off x="9674352" y="151790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cv-i1a"/>
          <p:cNvSpPr/>
          <p:nvPr/>
        </p:nvSpPr>
        <p:spPr>
          <a:xfrm>
            <a:off x="9756648" y="1591056"/>
            <a:ext cx="155448" cy="1554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A44"/>
            </a:solidFill>
            <a:prstDash val="solid"/>
          </a:ln>
        </p:spPr>
      </p:sp>
      <p:sp>
        <p:nvSpPr>
          <p:cNvPr id="11" name="cv-i1b"/>
          <p:cNvSpPr/>
          <p:nvPr/>
        </p:nvSpPr>
        <p:spPr>
          <a:xfrm>
            <a:off x="9893808" y="1728216"/>
            <a:ext cx="73152" cy="73152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</a:ln>
        </p:spPr>
      </p:sp>
      <p:sp>
        <p:nvSpPr>
          <p:cNvPr id="12" name="cv-l-0-0"/>
          <p:cNvSpPr/>
          <p:nvPr/>
        </p:nvSpPr>
        <p:spPr>
          <a:xfrm>
            <a:off x="7086600" y="2286000"/>
            <a:ext cx="2487168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cv-l-0-1"/>
          <p:cNvSpPr/>
          <p:nvPr/>
        </p:nvSpPr>
        <p:spPr>
          <a:xfrm>
            <a:off x="7086600" y="2514600"/>
            <a:ext cx="1901952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cv-l-0-2"/>
          <p:cNvSpPr/>
          <p:nvPr/>
        </p:nvSpPr>
        <p:spPr>
          <a:xfrm>
            <a:off x="7086600" y="2743200"/>
            <a:ext cx="2194560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5" name="cv-b-0"/>
          <p:cNvSpPr/>
          <p:nvPr/>
        </p:nvSpPr>
        <p:spPr>
          <a:xfrm>
            <a:off x="7086600" y="2971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6" name="cv-card-1"/>
          <p:cNvSpPr/>
          <p:nvPr/>
        </p:nvSpPr>
        <p:spPr>
          <a:xfrm>
            <a:off x="7635240" y="24688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EDF5F0"/>
          </a:solidFill>
          <a:ln w="25400">
            <a:solidFill>
              <a:srgbClr val="D3E7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8000"/>
              </a:srgbClr>
            </a:outerShdw>
          </a:effectLst>
        </p:spPr>
      </p:sp>
      <p:sp>
        <p:nvSpPr>
          <p:cNvPr id="17" name="cv-head-1"/>
          <p:cNvSpPr/>
          <p:nvPr/>
        </p:nvSpPr>
        <p:spPr>
          <a:xfrm>
            <a:off x="7635240" y="2468880"/>
            <a:ext cx="3383280" cy="566928"/>
          </a:xfrm>
          <a:prstGeom prst="roundRect">
            <a:avLst>
              <a:gd name="adj" fmla="val 24194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18" name="cv-t-1"/>
          <p:cNvSpPr txBox="1"/>
          <p:nvPr/>
        </p:nvSpPr>
        <p:spPr>
          <a:xfrm>
            <a:off x="7863840" y="24688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바꾸고</a:t>
            </a:r>
            <a:endParaRPr lang="en-US" sz="1800" dirty="0"/>
          </a:p>
        </p:txBody>
      </p:sp>
      <p:sp>
        <p:nvSpPr>
          <p:cNvPr id="19" name="cv-ic-1"/>
          <p:cNvSpPr/>
          <p:nvPr/>
        </p:nvSpPr>
        <p:spPr>
          <a:xfrm>
            <a:off x="10451592" y="256946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cv-i2"/>
          <p:cNvSpPr/>
          <p:nvPr/>
        </p:nvSpPr>
        <p:spPr>
          <a:xfrm rot="2700000">
            <a:off x="10597896" y="2624328"/>
            <a:ext cx="73152" cy="25603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cv-l-1-0"/>
          <p:cNvSpPr/>
          <p:nvPr/>
        </p:nvSpPr>
        <p:spPr>
          <a:xfrm>
            <a:off x="7863840" y="3337560"/>
            <a:ext cx="2487168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cv-l-1-1"/>
          <p:cNvSpPr/>
          <p:nvPr/>
        </p:nvSpPr>
        <p:spPr>
          <a:xfrm>
            <a:off x="7863840" y="3566160"/>
            <a:ext cx="1901952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cv-l-1-2"/>
          <p:cNvSpPr/>
          <p:nvPr/>
        </p:nvSpPr>
        <p:spPr>
          <a:xfrm>
            <a:off x="7863840" y="3794760"/>
            <a:ext cx="2194560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cv-b-1"/>
          <p:cNvSpPr/>
          <p:nvPr/>
        </p:nvSpPr>
        <p:spPr>
          <a:xfrm>
            <a:off x="7863840" y="402336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25" name="cv-card-2"/>
          <p:cNvSpPr/>
          <p:nvPr/>
        </p:nvSpPr>
        <p:spPr>
          <a:xfrm>
            <a:off x="8412480" y="35204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FAF4DE"/>
          </a:solidFill>
          <a:ln w="25400">
            <a:solidFill>
              <a:srgbClr val="F1E3B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8000"/>
              </a:srgbClr>
            </a:outerShdw>
          </a:effectLst>
        </p:spPr>
      </p:sp>
      <p:sp>
        <p:nvSpPr>
          <p:cNvPr id="26" name="cv-head-2"/>
          <p:cNvSpPr/>
          <p:nvPr/>
        </p:nvSpPr>
        <p:spPr>
          <a:xfrm>
            <a:off x="8412480" y="3520440"/>
            <a:ext cx="3383280" cy="566928"/>
          </a:xfrm>
          <a:prstGeom prst="roundRect">
            <a:avLst>
              <a:gd name="adj" fmla="val 24194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27" name="cv-t-2"/>
          <p:cNvSpPr txBox="1"/>
          <p:nvPr/>
        </p:nvSpPr>
        <p:spPr>
          <a:xfrm>
            <a:off x="8641080" y="3520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사용하고</a:t>
            </a:r>
            <a:endParaRPr lang="en-US" sz="1800" dirty="0"/>
          </a:p>
        </p:txBody>
      </p:sp>
      <p:sp>
        <p:nvSpPr>
          <p:cNvPr id="28" name="cv-ic-2"/>
          <p:cNvSpPr/>
          <p:nvPr/>
        </p:nvSpPr>
        <p:spPr>
          <a:xfrm>
            <a:off x="11228832" y="36210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cv-i3"/>
          <p:cNvSpPr/>
          <p:nvPr/>
        </p:nvSpPr>
        <p:spPr>
          <a:xfrm>
            <a:off x="11311128" y="3721608"/>
            <a:ext cx="201168" cy="164592"/>
          </a:xfrm>
          <a:prstGeom prst="rightArrow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cv-l-2-0"/>
          <p:cNvSpPr/>
          <p:nvPr/>
        </p:nvSpPr>
        <p:spPr>
          <a:xfrm>
            <a:off x="8641080" y="4389120"/>
            <a:ext cx="2487168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cv-l-2-1"/>
          <p:cNvSpPr/>
          <p:nvPr/>
        </p:nvSpPr>
        <p:spPr>
          <a:xfrm>
            <a:off x="8641080" y="4617720"/>
            <a:ext cx="1901952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2" name="cv-l-2-2"/>
          <p:cNvSpPr/>
          <p:nvPr/>
        </p:nvSpPr>
        <p:spPr>
          <a:xfrm>
            <a:off x="8641080" y="4846320"/>
            <a:ext cx="2194560" cy="73152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3" name="cv-b-2"/>
          <p:cNvSpPr/>
          <p:nvPr/>
        </p:nvSpPr>
        <p:spPr>
          <a:xfrm>
            <a:off x="8641080" y="50749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34" name="cover-line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35" name="team"/>
          <p:cNvSpPr txBox="1"/>
          <p:nvPr/>
        </p:nvSpPr>
        <p:spPr>
          <a:xfrm>
            <a:off x="822960" y="5943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63"/>
                </a:solidFill>
              </a:rPr>
              <a:t>수업경험설계 3Cell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수업활동 스튜디오란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1210235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2 / 17</a:t>
            </a:r>
            <a:endParaRPr lang="en-US" sz="1100" dirty="0"/>
          </a:p>
        </p:txBody>
      </p:sp>
      <p:sp>
        <p:nvSpPr>
          <p:cNvPr id="6" name="def-bar"/>
          <p:cNvSpPr/>
          <p:nvPr/>
        </p:nvSpPr>
        <p:spPr>
          <a:xfrm>
            <a:off x="548640" y="1463040"/>
            <a:ext cx="91440" cy="1600200"/>
          </a:xfrm>
          <a:prstGeom prst="rect">
            <a:avLst/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7" name="def-sentence"/>
          <p:cNvSpPr txBox="1"/>
          <p:nvPr/>
        </p:nvSpPr>
        <p:spPr>
          <a:xfrm>
            <a:off x="868680" y="1463040"/>
            <a:ext cx="10789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F2A44"/>
                </a:solidFill>
              </a:rPr>
              <a:t>중학교 정보 교사가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2B4C7E"/>
                </a:solidFill>
                <a:highlight>
                  <a:srgbClr val="F1E3B0"/>
                </a:highlight>
              </a:rPr>
              <a:t>5분 안에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F2A44"/>
                </a:solidFill>
              </a:rPr>
              <a:t> 활동지를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2B4C7E"/>
                </a:solidFill>
              </a:rPr>
              <a:t>찾고,</a:t>
            </a:r>
            <a:pPr indent="0" marL="0">
              <a:lnSpc>
                <a:spcPct val="125000"/>
              </a:lnSpc>
              <a:buNone/>
            </a:pP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3F7A5A"/>
                </a:solidFill>
              </a:rPr>
              <a:t>고치거나 만들어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F2A44"/>
                </a:solidFill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8A6A12"/>
                </a:solidFill>
              </a:rPr>
              <a:t>배포하고,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F2A44"/>
                </a:solidFill>
              </a:rPr>
              <a:t> 제출물에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8A6A12"/>
                </a:solidFill>
              </a:rPr>
              <a:t>피드백하는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F2A44"/>
                </a:solidFill>
              </a:rPr>
              <a:t> 수업 도구</a:t>
            </a:r>
            <a:endParaRPr lang="en-US" sz="3000" dirty="0"/>
          </a:p>
        </p:txBody>
      </p:sp>
      <p:sp>
        <p:nvSpPr>
          <p:cNvPr id="8" name="def-v0"/>
          <p:cNvSpPr/>
          <p:nvPr/>
        </p:nvSpPr>
        <p:spPr>
          <a:xfrm>
            <a:off x="548640" y="4343400"/>
            <a:ext cx="3794760" cy="960120"/>
          </a:xfrm>
          <a:prstGeom prst="homePlate">
            <a:avLst/>
          </a:prstGeom>
          <a:solidFill>
            <a:srgbClr val="C9DA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def-vt0"/>
          <p:cNvSpPr txBox="1"/>
          <p:nvPr/>
        </p:nvSpPr>
        <p:spPr>
          <a:xfrm>
            <a:off x="822960" y="4343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</a:rPr>
              <a:t>고르고</a:t>
            </a:r>
            <a:endParaRPr lang="en-US" sz="2400" dirty="0"/>
          </a:p>
        </p:txBody>
      </p:sp>
      <p:sp>
        <p:nvSpPr>
          <p:cNvPr id="10" name="def-vd0"/>
          <p:cNvSpPr txBox="1"/>
          <p:nvPr/>
        </p:nvSpPr>
        <p:spPr>
          <a:xfrm>
            <a:off x="640080" y="5440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4C7E"/>
                </a:solidFill>
              </a:rPr>
              <a:t>5분 안에 찾기</a:t>
            </a:r>
            <a:endParaRPr lang="en-US" sz="1500" dirty="0"/>
          </a:p>
        </p:txBody>
      </p:sp>
      <p:sp>
        <p:nvSpPr>
          <p:cNvPr id="11" name="def-v1"/>
          <p:cNvSpPr/>
          <p:nvPr/>
        </p:nvSpPr>
        <p:spPr>
          <a:xfrm>
            <a:off x="4197096" y="4343400"/>
            <a:ext cx="3794760" cy="960120"/>
          </a:xfrm>
          <a:prstGeom prst="chevron">
            <a:avLst/>
          </a:prstGeom>
          <a:solidFill>
            <a:srgbClr val="D3E7D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def-vt1"/>
          <p:cNvSpPr txBox="1"/>
          <p:nvPr/>
        </p:nvSpPr>
        <p:spPr>
          <a:xfrm>
            <a:off x="4791456" y="4343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</a:rPr>
              <a:t>바꾸고</a:t>
            </a:r>
            <a:endParaRPr lang="en-US" sz="2400" dirty="0"/>
          </a:p>
        </p:txBody>
      </p:sp>
      <p:sp>
        <p:nvSpPr>
          <p:cNvPr id="13" name="def-vd1"/>
          <p:cNvSpPr txBox="1"/>
          <p:nvPr/>
        </p:nvSpPr>
        <p:spPr>
          <a:xfrm>
            <a:off x="4608576" y="5440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7A5A"/>
                </a:solidFill>
              </a:rPr>
              <a:t>필요하면 고치거나 만들기</a:t>
            </a:r>
            <a:endParaRPr lang="en-US" sz="1500" dirty="0"/>
          </a:p>
        </p:txBody>
      </p:sp>
      <p:sp>
        <p:nvSpPr>
          <p:cNvPr id="14" name="def-v2"/>
          <p:cNvSpPr/>
          <p:nvPr/>
        </p:nvSpPr>
        <p:spPr>
          <a:xfrm>
            <a:off x="7845552" y="4343400"/>
            <a:ext cx="3794760" cy="960120"/>
          </a:xfrm>
          <a:prstGeom prst="chevron">
            <a:avLst/>
          </a:prstGeom>
          <a:solidFill>
            <a:srgbClr val="F1E3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def-vt2"/>
          <p:cNvSpPr txBox="1"/>
          <p:nvPr/>
        </p:nvSpPr>
        <p:spPr>
          <a:xfrm>
            <a:off x="8439912" y="4343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</a:rPr>
              <a:t>사용하고</a:t>
            </a:r>
            <a:endParaRPr lang="en-US" sz="2400" dirty="0"/>
          </a:p>
        </p:txBody>
      </p:sp>
      <p:sp>
        <p:nvSpPr>
          <p:cNvPr id="16" name="def-vd2"/>
          <p:cNvSpPr txBox="1"/>
          <p:nvPr/>
        </p:nvSpPr>
        <p:spPr>
          <a:xfrm>
            <a:off x="8257032" y="5440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A12"/>
                </a:solidFill>
              </a:rPr>
              <a:t>배포해 피드백까지</a:t>
            </a:r>
            <a:endParaRPr lang="en-US" sz="1500" dirty="0"/>
          </a:p>
        </p:txBody>
      </p:sp>
      <p:sp>
        <p:nvSpPr>
          <p:cNvPr id="17" name="def-5"/>
          <p:cNvSpPr/>
          <p:nvPr/>
        </p:nvSpPr>
        <p:spPr>
          <a:xfrm>
            <a:off x="384048" y="4069080"/>
            <a:ext cx="777240" cy="7772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2C230"/>
            </a:solidFill>
            <a:prstDash val="solid"/>
          </a:ln>
        </p:spPr>
      </p:sp>
      <p:sp>
        <p:nvSpPr>
          <p:cNvPr id="18" name="def-5t"/>
          <p:cNvSpPr txBox="1"/>
          <p:nvPr/>
        </p:nvSpPr>
        <p:spPr>
          <a:xfrm>
            <a:off x="384048" y="4069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5분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서비스 한눈에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1815353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3 / 17</a:t>
            </a:r>
            <a:endParaRPr lang="en-US" sz="1100" dirty="0"/>
          </a:p>
        </p:txBody>
      </p:sp>
      <p:sp>
        <p:nvSpPr>
          <p:cNvPr id="6" name="motto-box"/>
          <p:cNvSpPr/>
          <p:nvPr/>
        </p:nvSpPr>
        <p:spPr>
          <a:xfrm>
            <a:off x="548640" y="12801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FE6D6"/>
            </a:solidFill>
            <a:prstDash val="solid"/>
          </a:ln>
        </p:spPr>
      </p:sp>
      <p:sp>
        <p:nvSpPr>
          <p:cNvPr id="7" name="motto"/>
          <p:cNvSpPr txBox="1"/>
          <p:nvPr/>
        </p:nvSpPr>
        <p:spPr>
          <a:xfrm>
            <a:off x="548640" y="12801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고르고 · 바꾸고 · 사용하고</a:t>
            </a:r>
            <a:endParaRPr lang="en-US" sz="3000" dirty="0"/>
          </a:p>
        </p:txBody>
      </p:sp>
      <p:sp>
        <p:nvSpPr>
          <p:cNvPr id="8" name="summary"/>
          <p:cNvSpPr txBox="1"/>
          <p:nvPr/>
        </p:nvSpPr>
        <p:spPr>
          <a:xfrm>
            <a:off x="548640" y="5166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1차 사용자: 중학교 정보 교사 · 2차 사용자: 학생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쓰는 순간: 집중 저하 · 수준 차이 · 내용 정리 · 깜짝 퀴즈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콘텐츠: 정보 교과서 소단원별 활동지 1개씩 (‘종이 · 화면’/‘화면 전용’ 표시) + 선생님 공유 활동 (전국)</a:t>
            </a:r>
            <a:endParaRPr lang="en-US" sz="1500" dirty="0"/>
          </a:p>
        </p:txBody>
      </p:sp>
      <p:sp>
        <p:nvSpPr>
          <p:cNvPr id="9" name="glance-h-0"/>
          <p:cNvSpPr/>
          <p:nvPr/>
        </p:nvSpPr>
        <p:spPr>
          <a:xfrm>
            <a:off x="548640" y="2423160"/>
            <a:ext cx="3557016" cy="713232"/>
          </a:xfrm>
          <a:prstGeom prst="rect">
            <a:avLst/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0" name="glance-ht-0"/>
          <p:cNvSpPr txBox="1"/>
          <p:nvPr/>
        </p:nvSpPr>
        <p:spPr>
          <a:xfrm>
            <a:off x="548640" y="2423160"/>
            <a:ext cx="3557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고르고</a:t>
            </a:r>
            <a:endParaRPr lang="en-US" sz="2000" dirty="0"/>
          </a:p>
        </p:txBody>
      </p:sp>
      <p:sp>
        <p:nvSpPr>
          <p:cNvPr id="11" name="glance-b-0"/>
          <p:cNvSpPr/>
          <p:nvPr/>
        </p:nvSpPr>
        <p:spPr>
          <a:xfrm>
            <a:off x="548640" y="3136392"/>
            <a:ext cx="3557016" cy="1664208"/>
          </a:xfrm>
          <a:prstGeom prst="rect">
            <a:avLst/>
          </a:prstGeom>
          <a:solidFill>
            <a:srgbClr val="EAF1F8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2" name="glance-bt-0"/>
          <p:cNvSpPr txBox="1"/>
          <p:nvPr/>
        </p:nvSpPr>
        <p:spPr>
          <a:xfrm>
            <a:off x="685800" y="3136392"/>
            <a:ext cx="32826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44"/>
                </a:solidFill>
              </a:rPr>
              <a:t>5분 안에 활동지를 찾는다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44"/>
                </a:solidFill>
              </a:rPr>
              <a:t>질문창 · 추천 질문 · 교과서 단원</a:t>
            </a:r>
            <a:endParaRPr lang="en-US" sz="1500" dirty="0"/>
          </a:p>
        </p:txBody>
      </p:sp>
      <p:sp>
        <p:nvSpPr>
          <p:cNvPr id="13" name="glance-h-1"/>
          <p:cNvSpPr/>
          <p:nvPr/>
        </p:nvSpPr>
        <p:spPr>
          <a:xfrm>
            <a:off x="4315968" y="2423160"/>
            <a:ext cx="3557016" cy="713232"/>
          </a:xfrm>
          <a:prstGeom prst="rect">
            <a:avLst/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14" name="glance-ht-1"/>
          <p:cNvSpPr txBox="1"/>
          <p:nvPr/>
        </p:nvSpPr>
        <p:spPr>
          <a:xfrm>
            <a:off x="4315968" y="2423160"/>
            <a:ext cx="3557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바꾸고</a:t>
            </a:r>
            <a:endParaRPr lang="en-US" sz="2000" dirty="0"/>
          </a:p>
        </p:txBody>
      </p:sp>
      <p:sp>
        <p:nvSpPr>
          <p:cNvPr id="15" name="glance-b-1"/>
          <p:cNvSpPr/>
          <p:nvPr/>
        </p:nvSpPr>
        <p:spPr>
          <a:xfrm>
            <a:off x="4315968" y="3136392"/>
            <a:ext cx="3557016" cy="1664208"/>
          </a:xfrm>
          <a:prstGeom prst="rect">
            <a:avLst/>
          </a:prstGeom>
          <a:solidFill>
            <a:srgbClr val="EDF5F0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16" name="glance-bt-1"/>
          <p:cNvSpPr txBox="1"/>
          <p:nvPr/>
        </p:nvSpPr>
        <p:spPr>
          <a:xfrm>
            <a:off x="4453128" y="3136392"/>
            <a:ext cx="32826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44"/>
                </a:solidFill>
              </a:rPr>
              <a:t>필요하면 칸을 고치고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44"/>
                </a:solidFill>
              </a:rPr>
              <a:t>맞는 게 없으면 직접 만든다</a:t>
            </a:r>
            <a:endParaRPr lang="en-US" sz="1500" dirty="0"/>
          </a:p>
        </p:txBody>
      </p:sp>
      <p:sp>
        <p:nvSpPr>
          <p:cNvPr id="17" name="glance-h-2"/>
          <p:cNvSpPr/>
          <p:nvPr/>
        </p:nvSpPr>
        <p:spPr>
          <a:xfrm>
            <a:off x="8083296" y="2423160"/>
            <a:ext cx="3557016" cy="713232"/>
          </a:xfrm>
          <a:prstGeom prst="rect">
            <a:avLst/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18" name="glance-ht-2"/>
          <p:cNvSpPr txBox="1"/>
          <p:nvPr/>
        </p:nvSpPr>
        <p:spPr>
          <a:xfrm>
            <a:off x="8083296" y="2423160"/>
            <a:ext cx="3557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사용하고</a:t>
            </a:r>
            <a:endParaRPr lang="en-US" sz="2000" dirty="0"/>
          </a:p>
        </p:txBody>
      </p:sp>
      <p:sp>
        <p:nvSpPr>
          <p:cNvPr id="19" name="glance-b-2"/>
          <p:cNvSpPr/>
          <p:nvPr/>
        </p:nvSpPr>
        <p:spPr>
          <a:xfrm>
            <a:off x="8083296" y="3136392"/>
            <a:ext cx="3557016" cy="1664208"/>
          </a:xfrm>
          <a:prstGeom prst="rect">
            <a:avLst/>
          </a:prstGeom>
          <a:solidFill>
            <a:srgbClr val="FAF4DE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20" name="glance-bt-2"/>
          <p:cNvSpPr txBox="1"/>
          <p:nvPr/>
        </p:nvSpPr>
        <p:spPr>
          <a:xfrm>
            <a:off x="8220456" y="3136392"/>
            <a:ext cx="32826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44"/>
                </a:solidFill>
              </a:rPr>
              <a:t>반에 배포해 수업에 쓰고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44"/>
                </a:solidFill>
              </a:rPr>
              <a:t>제출물에 피드백까지 한다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전체 흐름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2420471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4 / 17</a:t>
            </a:r>
            <a:endParaRPr lang="en-US" sz="1100" dirty="0"/>
          </a:p>
        </p:txBody>
      </p:sp>
      <p:sp>
        <p:nvSpPr>
          <p:cNvPr id="6" name="group-고르고"/>
          <p:cNvSpPr/>
          <p:nvPr/>
        </p:nvSpPr>
        <p:spPr>
          <a:xfrm>
            <a:off x="1645920" y="1234440"/>
            <a:ext cx="2651760" cy="4846320"/>
          </a:xfrm>
          <a:prstGeom prst="roundRect">
            <a:avLst>
              <a:gd name="adj" fmla="val 4138"/>
            </a:avLst>
          </a:prstGeom>
          <a:solidFill>
            <a:srgbClr val="EAF1F8"/>
          </a:solidFill>
          <a:ln w="19050">
            <a:solidFill>
              <a:srgbClr val="C9DAEC"/>
            </a:solidFill>
            <a:prstDash val="solid"/>
          </a:ln>
        </p:spPr>
      </p:sp>
      <p:sp>
        <p:nvSpPr>
          <p:cNvPr id="7" name="group-t-고르고"/>
          <p:cNvSpPr txBox="1"/>
          <p:nvPr/>
        </p:nvSpPr>
        <p:spPr>
          <a:xfrm>
            <a:off x="164592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고르고</a:t>
            </a:r>
            <a:endParaRPr lang="en-US" sz="2000" dirty="0"/>
          </a:p>
        </p:txBody>
      </p:sp>
      <p:sp>
        <p:nvSpPr>
          <p:cNvPr id="8" name="group-바꾸고"/>
          <p:cNvSpPr/>
          <p:nvPr/>
        </p:nvSpPr>
        <p:spPr>
          <a:xfrm>
            <a:off x="4572000" y="1234440"/>
            <a:ext cx="2651760" cy="4846320"/>
          </a:xfrm>
          <a:prstGeom prst="roundRect">
            <a:avLst>
              <a:gd name="adj" fmla="val 4138"/>
            </a:avLst>
          </a:prstGeom>
          <a:solidFill>
            <a:srgbClr val="EDF5F0"/>
          </a:solidFill>
          <a:ln w="19050">
            <a:solidFill>
              <a:srgbClr val="D3E7DC"/>
            </a:solidFill>
            <a:prstDash val="solid"/>
          </a:ln>
        </p:spPr>
      </p:sp>
      <p:sp>
        <p:nvSpPr>
          <p:cNvPr id="9" name="group-t-바꾸고"/>
          <p:cNvSpPr txBox="1"/>
          <p:nvPr/>
        </p:nvSpPr>
        <p:spPr>
          <a:xfrm>
            <a:off x="457200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바꾸고</a:t>
            </a:r>
            <a:endParaRPr lang="en-US" sz="2000" dirty="0"/>
          </a:p>
        </p:txBody>
      </p:sp>
      <p:sp>
        <p:nvSpPr>
          <p:cNvPr id="10" name="group-사용하고"/>
          <p:cNvSpPr/>
          <p:nvPr/>
        </p:nvSpPr>
        <p:spPr>
          <a:xfrm>
            <a:off x="7498080" y="1234440"/>
            <a:ext cx="4142232" cy="4846320"/>
          </a:xfrm>
          <a:prstGeom prst="roundRect">
            <a:avLst>
              <a:gd name="adj" fmla="val 2649"/>
            </a:avLst>
          </a:prstGeom>
          <a:solidFill>
            <a:srgbClr val="FAF4DE"/>
          </a:solidFill>
          <a:ln w="19050">
            <a:solidFill>
              <a:srgbClr val="F1E3B0"/>
            </a:solidFill>
            <a:prstDash val="solid"/>
          </a:ln>
        </p:spPr>
      </p:sp>
      <p:sp>
        <p:nvSpPr>
          <p:cNvPr id="11" name="group-t-사용하고"/>
          <p:cNvSpPr txBox="1"/>
          <p:nvPr/>
        </p:nvSpPr>
        <p:spPr>
          <a:xfrm>
            <a:off x="7498080" y="132588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사용하고</a:t>
            </a:r>
            <a:endParaRPr lang="en-US" sz="2000" dirty="0"/>
          </a:p>
        </p:txBody>
      </p:sp>
      <p:sp>
        <p:nvSpPr>
          <p:cNvPr id="12" name="lane-divider"/>
          <p:cNvSpPr/>
          <p:nvPr/>
        </p:nvSpPr>
        <p:spPr>
          <a:xfrm>
            <a:off x="1645920" y="3886200"/>
            <a:ext cx="9994392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13" name="lane-교사"/>
          <p:cNvSpPr/>
          <p:nvPr/>
        </p:nvSpPr>
        <p:spPr>
          <a:xfrm>
            <a:off x="548640" y="2286000"/>
            <a:ext cx="868680" cy="868680"/>
          </a:xfrm>
          <a:prstGeom prst="ellipse">
            <a:avLst/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14" name="lane-t-교사"/>
          <p:cNvSpPr txBox="1"/>
          <p:nvPr/>
        </p:nvSpPr>
        <p:spPr>
          <a:xfrm>
            <a:off x="54864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교사</a:t>
            </a:r>
            <a:endParaRPr lang="en-US" sz="1500" dirty="0"/>
          </a:p>
        </p:txBody>
      </p:sp>
      <p:sp>
        <p:nvSpPr>
          <p:cNvPr id="15" name="lane-학생"/>
          <p:cNvSpPr/>
          <p:nvPr/>
        </p:nvSpPr>
        <p:spPr>
          <a:xfrm>
            <a:off x="548640" y="4434840"/>
            <a:ext cx="868680" cy="868680"/>
          </a:xfrm>
          <a:prstGeom prst="ellipse">
            <a:avLst/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16" name="lane-t-학생"/>
          <p:cNvSpPr txBox="1"/>
          <p:nvPr/>
        </p:nvSpPr>
        <p:spPr>
          <a:xfrm>
            <a:off x="54864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학생</a:t>
            </a:r>
            <a:endParaRPr lang="en-US" sz="1500" dirty="0"/>
          </a:p>
        </p:txBody>
      </p:sp>
      <p:sp>
        <p:nvSpPr>
          <p:cNvPr id="17" name="group-arrow-1"/>
          <p:cNvSpPr/>
          <p:nvPr/>
        </p:nvSpPr>
        <p:spPr>
          <a:xfrm>
            <a:off x="4306824" y="2514600"/>
            <a:ext cx="246888" cy="41148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8" name="group-arrow-2"/>
          <p:cNvSpPr/>
          <p:nvPr/>
        </p:nvSpPr>
        <p:spPr>
          <a:xfrm>
            <a:off x="7232904" y="2514600"/>
            <a:ext cx="246888" cy="41148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9" name="or"/>
          <p:cNvSpPr txBox="1"/>
          <p:nvPr/>
        </p:nvSpPr>
        <p:spPr>
          <a:xfrm>
            <a:off x="4709160" y="26563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또는</a:t>
            </a:r>
            <a:endParaRPr lang="en-US" sz="1100" dirty="0"/>
          </a:p>
        </p:txBody>
      </p:sp>
      <p:sp>
        <p:nvSpPr>
          <p:cNvPr id="20" name="link-deploy"/>
          <p:cNvSpPr/>
          <p:nvPr/>
        </p:nvSpPr>
        <p:spPr>
          <a:xfrm>
            <a:off x="8092440" y="3429000"/>
            <a:ext cx="256032" cy="777240"/>
          </a:xfrm>
          <a:prstGeom prst="downArrow">
            <a:avLst/>
          </a:prstGeom>
          <a:solidFill>
            <a:srgbClr val="D9C77E"/>
          </a:solidFill>
          <a:ln w="12700">
            <a:solidFill>
              <a:srgbClr val="D9C77E"/>
            </a:solidFill>
            <a:prstDash val="solid"/>
          </a:ln>
        </p:spPr>
      </p:sp>
      <p:sp>
        <p:nvSpPr>
          <p:cNvPr id="21" name="link-deploy-t"/>
          <p:cNvSpPr txBox="1"/>
          <p:nvPr/>
        </p:nvSpPr>
        <p:spPr>
          <a:xfrm>
            <a:off x="841248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링크·QR</a:t>
            </a:r>
            <a:endParaRPr lang="en-US" sz="1100" dirty="0"/>
          </a:p>
        </p:txBody>
      </p:sp>
      <p:sp>
        <p:nvSpPr>
          <p:cNvPr id="22" name="link-submit"/>
          <p:cNvSpPr/>
          <p:nvPr/>
        </p:nvSpPr>
        <p:spPr>
          <a:xfrm>
            <a:off x="9692640" y="3429000"/>
            <a:ext cx="256032" cy="777240"/>
          </a:xfrm>
          <a:prstGeom prst="upArrow">
            <a:avLst/>
          </a:prstGeom>
          <a:solidFill>
            <a:srgbClr val="9CC5AE"/>
          </a:solidFill>
          <a:ln w="12700">
            <a:solidFill>
              <a:srgbClr val="9CC5AE"/>
            </a:solidFill>
            <a:prstDash val="solid"/>
          </a:ln>
        </p:spPr>
      </p:sp>
      <p:sp>
        <p:nvSpPr>
          <p:cNvPr id="23" name="link-submit-t"/>
          <p:cNvSpPr txBox="1"/>
          <p:nvPr/>
        </p:nvSpPr>
        <p:spPr>
          <a:xfrm>
            <a:off x="1001268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제출물</a:t>
            </a:r>
            <a:endParaRPr lang="en-US" sz="1100" dirty="0"/>
          </a:p>
        </p:txBody>
      </p:sp>
      <p:sp>
        <p:nvSpPr>
          <p:cNvPr id="24" name="f-find"/>
          <p:cNvSpPr/>
          <p:nvPr/>
        </p:nvSpPr>
        <p:spPr>
          <a:xfrm>
            <a:off x="1783080" y="2103120"/>
            <a:ext cx="1024128" cy="1188720"/>
          </a:xfrm>
          <a:prstGeom prst="roundRect">
            <a:avLst>
              <a:gd name="adj" fmla="val 8929"/>
            </a:avLst>
          </a:prstGeom>
          <a:solidFill>
            <a:srgbClr val="C9DA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f-find-t"/>
          <p:cNvSpPr txBox="1"/>
          <p:nvPr/>
        </p:nvSpPr>
        <p:spPr>
          <a:xfrm>
            <a:off x="1783080" y="2103120"/>
            <a:ext cx="1024128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활동 찾기</a:t>
            </a:r>
            <a:endParaRPr lang="en-US" sz="1400" dirty="0"/>
          </a:p>
        </p:txBody>
      </p:sp>
      <p:sp>
        <p:nvSpPr>
          <p:cNvPr id="26" name="f-find-a"/>
          <p:cNvSpPr/>
          <p:nvPr/>
        </p:nvSpPr>
        <p:spPr>
          <a:xfrm>
            <a:off x="2852928" y="2560320"/>
            <a:ext cx="182880" cy="27432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27" name="f-prev"/>
          <p:cNvSpPr/>
          <p:nvPr/>
        </p:nvSpPr>
        <p:spPr>
          <a:xfrm>
            <a:off x="3090672" y="2103120"/>
            <a:ext cx="1024128" cy="1188720"/>
          </a:xfrm>
          <a:prstGeom prst="roundRect">
            <a:avLst>
              <a:gd name="adj" fmla="val 8929"/>
            </a:avLst>
          </a:prstGeom>
          <a:solidFill>
            <a:srgbClr val="C9DA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f-prev-t"/>
          <p:cNvSpPr txBox="1"/>
          <p:nvPr/>
        </p:nvSpPr>
        <p:spPr>
          <a:xfrm>
            <a:off x="3090672" y="2103120"/>
            <a:ext cx="1024128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미리보기</a:t>
            </a:r>
            <a:endParaRPr lang="en-US" sz="1400" dirty="0"/>
          </a:p>
        </p:txBody>
      </p:sp>
      <p:sp>
        <p:nvSpPr>
          <p:cNvPr id="29" name="f-edit"/>
          <p:cNvSpPr/>
          <p:nvPr/>
        </p:nvSpPr>
        <p:spPr>
          <a:xfrm>
            <a:off x="4709160" y="1965960"/>
            <a:ext cx="2377440" cy="621792"/>
          </a:xfrm>
          <a:prstGeom prst="roundRect">
            <a:avLst>
              <a:gd name="adj" fmla="val 14706"/>
            </a:avLst>
          </a:prstGeom>
          <a:solidFill>
            <a:srgbClr val="D3E7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f-edit-t"/>
          <p:cNvSpPr txBox="1"/>
          <p:nvPr/>
        </p:nvSpPr>
        <p:spPr>
          <a:xfrm>
            <a:off x="4709160" y="1965960"/>
            <a:ext cx="2377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고쳐서 배포</a:t>
            </a:r>
            <a:endParaRPr lang="en-US" sz="1400" dirty="0"/>
          </a:p>
        </p:txBody>
      </p:sp>
      <p:sp>
        <p:nvSpPr>
          <p:cNvPr id="31" name="f-make"/>
          <p:cNvSpPr/>
          <p:nvPr/>
        </p:nvSpPr>
        <p:spPr>
          <a:xfrm>
            <a:off x="4709160" y="2944368"/>
            <a:ext cx="2377440" cy="621792"/>
          </a:xfrm>
          <a:prstGeom prst="roundRect">
            <a:avLst>
              <a:gd name="adj" fmla="val 14706"/>
            </a:avLst>
          </a:prstGeom>
          <a:solidFill>
            <a:srgbClr val="D3E7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f-make-t"/>
          <p:cNvSpPr txBox="1"/>
          <p:nvPr/>
        </p:nvSpPr>
        <p:spPr>
          <a:xfrm>
            <a:off x="4709160" y="2944368"/>
            <a:ext cx="2377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직접 만들기</a:t>
            </a:r>
            <a:endParaRPr lang="en-US" sz="1400" dirty="0"/>
          </a:p>
        </p:txBody>
      </p:sp>
      <p:sp>
        <p:nvSpPr>
          <p:cNvPr id="33" name="f-use-0"/>
          <p:cNvSpPr/>
          <p:nvPr/>
        </p:nvSpPr>
        <p:spPr>
          <a:xfrm>
            <a:off x="7635240" y="2194560"/>
            <a:ext cx="1417320" cy="1051560"/>
          </a:xfrm>
          <a:prstGeom prst="homePlate">
            <a:avLst/>
          </a:prstGeom>
          <a:solidFill>
            <a:srgbClr val="F1E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f-use-t-0"/>
          <p:cNvSpPr txBox="1"/>
          <p:nvPr/>
        </p:nvSpPr>
        <p:spPr>
          <a:xfrm>
            <a:off x="7726680" y="21945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배포</a:t>
            </a:r>
            <a:endParaRPr lang="en-US" sz="1300" dirty="0"/>
          </a:p>
        </p:txBody>
      </p:sp>
      <p:sp>
        <p:nvSpPr>
          <p:cNvPr id="35" name="f-use-1"/>
          <p:cNvSpPr/>
          <p:nvPr/>
        </p:nvSpPr>
        <p:spPr>
          <a:xfrm>
            <a:off x="8860536" y="2194560"/>
            <a:ext cx="1417320" cy="1051560"/>
          </a:xfrm>
          <a:prstGeom prst="chevron">
            <a:avLst/>
          </a:prstGeom>
          <a:solidFill>
            <a:srgbClr val="EEDC9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f-use-t-1"/>
          <p:cNvSpPr txBox="1"/>
          <p:nvPr/>
        </p:nvSpPr>
        <p:spPr>
          <a:xfrm>
            <a:off x="9116568" y="21945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피드백</a:t>
            </a:r>
            <a:endParaRPr lang="en-US" sz="1300" dirty="0"/>
          </a:p>
        </p:txBody>
      </p:sp>
      <p:sp>
        <p:nvSpPr>
          <p:cNvPr id="37" name="f-use-2"/>
          <p:cNvSpPr/>
          <p:nvPr/>
        </p:nvSpPr>
        <p:spPr>
          <a:xfrm>
            <a:off x="10085832" y="2194560"/>
            <a:ext cx="1417320" cy="1051560"/>
          </a:xfrm>
          <a:prstGeom prst="chevron">
            <a:avLst/>
          </a:prstGeom>
          <a:solidFill>
            <a:srgbClr val="E8D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f-use-t-2"/>
          <p:cNvSpPr txBox="1"/>
          <p:nvPr/>
        </p:nvSpPr>
        <p:spPr>
          <a:xfrm>
            <a:off x="10341864" y="21945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수업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관리</a:t>
            </a:r>
            <a:endParaRPr lang="en-US" sz="1300" dirty="0"/>
          </a:p>
        </p:txBody>
      </p:sp>
      <p:sp>
        <p:nvSpPr>
          <p:cNvPr id="39" name="f-stu-0"/>
          <p:cNvSpPr/>
          <p:nvPr/>
        </p:nvSpPr>
        <p:spPr>
          <a:xfrm>
            <a:off x="7635240" y="4343400"/>
            <a:ext cx="1115568" cy="1051560"/>
          </a:xfrm>
          <a:prstGeom prst="homePlate">
            <a:avLst/>
          </a:prstGeom>
          <a:solidFill>
            <a:srgbClr val="D3E7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f-stu-t-0"/>
          <p:cNvSpPr txBox="1"/>
          <p:nvPr/>
        </p:nvSpPr>
        <p:spPr>
          <a:xfrm>
            <a:off x="7726680" y="434340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접속</a:t>
            </a:r>
            <a:endParaRPr lang="en-US" sz="1200" dirty="0"/>
          </a:p>
        </p:txBody>
      </p:sp>
      <p:sp>
        <p:nvSpPr>
          <p:cNvPr id="41" name="f-stu-1"/>
          <p:cNvSpPr/>
          <p:nvPr/>
        </p:nvSpPr>
        <p:spPr>
          <a:xfrm>
            <a:off x="8549640" y="4343400"/>
            <a:ext cx="1115568" cy="1051560"/>
          </a:xfrm>
          <a:prstGeom prst="chevron">
            <a:avLst/>
          </a:prstGeom>
          <a:solidFill>
            <a:srgbClr val="C9E1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f-stu-t-1"/>
          <p:cNvSpPr txBox="1"/>
          <p:nvPr/>
        </p:nvSpPr>
        <p:spPr>
          <a:xfrm>
            <a:off x="8805672" y="434340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풀기</a:t>
            </a:r>
            <a:endParaRPr lang="en-US" sz="1200" dirty="0"/>
          </a:p>
        </p:txBody>
      </p:sp>
      <p:sp>
        <p:nvSpPr>
          <p:cNvPr id="43" name="f-stu-2"/>
          <p:cNvSpPr/>
          <p:nvPr/>
        </p:nvSpPr>
        <p:spPr>
          <a:xfrm>
            <a:off x="9464040" y="4343400"/>
            <a:ext cx="1115568" cy="1051560"/>
          </a:xfrm>
          <a:prstGeom prst="chevron">
            <a:avLst/>
          </a:prstGeom>
          <a:solidFill>
            <a:srgbClr val="BFDA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f-stu-t-2"/>
          <p:cNvSpPr txBox="1"/>
          <p:nvPr/>
        </p:nvSpPr>
        <p:spPr>
          <a:xfrm>
            <a:off x="9720072" y="434340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제출</a:t>
            </a:r>
            <a:endParaRPr lang="en-US" sz="1200" dirty="0"/>
          </a:p>
        </p:txBody>
      </p:sp>
      <p:sp>
        <p:nvSpPr>
          <p:cNvPr id="45" name="f-stu-3"/>
          <p:cNvSpPr/>
          <p:nvPr/>
        </p:nvSpPr>
        <p:spPr>
          <a:xfrm>
            <a:off x="10378440" y="4343400"/>
            <a:ext cx="1115568" cy="1051560"/>
          </a:xfrm>
          <a:prstGeom prst="chevron">
            <a:avLst/>
          </a:prstGeom>
          <a:solidFill>
            <a:srgbClr val="B5D4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f-stu-t-3"/>
          <p:cNvSpPr txBox="1"/>
          <p:nvPr/>
        </p:nvSpPr>
        <p:spPr>
          <a:xfrm>
            <a:off x="10634472" y="434340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결과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고르고: 활동 찾기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3025588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5 / 17</a:t>
            </a:r>
            <a:endParaRPr lang="en-US" sz="1100" dirty="0"/>
          </a:p>
        </p:txBody>
      </p:sp>
      <p:sp>
        <p:nvSpPr>
          <p:cNvPr id="6" name="entry-1"/>
          <p:cNvSpPr/>
          <p:nvPr/>
        </p:nvSpPr>
        <p:spPr>
          <a:xfrm>
            <a:off x="548640" y="12344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EAF1F8"/>
          </a:solidFill>
          <a:ln w="19050">
            <a:solidFill>
              <a:srgbClr val="C9DAEC"/>
            </a:solidFill>
            <a:prstDash val="solid"/>
          </a:ln>
        </p:spPr>
      </p:sp>
      <p:sp>
        <p:nvSpPr>
          <p:cNvPr id="7" name="entry-t-1"/>
          <p:cNvSpPr txBox="1"/>
          <p:nvPr/>
        </p:nvSpPr>
        <p:spPr>
          <a:xfrm>
            <a:off x="731520" y="1417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질문창에 입력</a:t>
            </a:r>
            <a:endParaRPr lang="en-US" sz="1800" dirty="0"/>
          </a:p>
        </p:txBody>
      </p:sp>
      <p:sp>
        <p:nvSpPr>
          <p:cNvPr id="8" name="sk1-input"/>
          <p:cNvSpPr/>
          <p:nvPr/>
        </p:nvSpPr>
        <p:spPr>
          <a:xfrm>
            <a:off x="777240" y="22402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9" name="sk1-input-t"/>
          <p:cNvSpPr txBox="1"/>
          <p:nvPr/>
        </p:nvSpPr>
        <p:spPr>
          <a:xfrm>
            <a:off x="96012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조건문 정리 깜짝 퀴즈</a:t>
            </a:r>
            <a:endParaRPr lang="en-US" sz="1200" dirty="0"/>
          </a:p>
        </p:txBody>
      </p:sp>
      <p:sp>
        <p:nvSpPr>
          <p:cNvPr id="10" name="sk1-send"/>
          <p:cNvSpPr/>
          <p:nvPr/>
        </p:nvSpPr>
        <p:spPr>
          <a:xfrm>
            <a:off x="3429000" y="2304288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sk1-send-t"/>
          <p:cNvSpPr txBox="1"/>
          <p:nvPr/>
        </p:nvSpPr>
        <p:spPr>
          <a:xfrm>
            <a:off x="342900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↑</a:t>
            </a:r>
            <a:endParaRPr lang="en-US" sz="1200" dirty="0"/>
          </a:p>
        </p:txBody>
      </p:sp>
      <p:sp>
        <p:nvSpPr>
          <p:cNvPr id="12" name="sk1-arrow"/>
          <p:cNvSpPr/>
          <p:nvPr/>
        </p:nvSpPr>
        <p:spPr>
          <a:xfrm>
            <a:off x="2162556" y="2971800"/>
            <a:ext cx="292608" cy="292608"/>
          </a:xfrm>
          <a:prstGeom prst="down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3" name="sk1-r1-c"/>
          <p:cNvSpPr/>
          <p:nvPr/>
        </p:nvSpPr>
        <p:spPr>
          <a:xfrm>
            <a:off x="777240" y="347472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4" name="sk1-r1-t"/>
          <p:cNvSpPr/>
          <p:nvPr/>
        </p:nvSpPr>
        <p:spPr>
          <a:xfrm>
            <a:off x="832104" y="3529584"/>
            <a:ext cx="1353312" cy="441655"/>
          </a:xfrm>
          <a:prstGeom prst="roundRect">
            <a:avLst>
              <a:gd name="adj" fmla="val 8282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15" name="sk1-r1-l1"/>
          <p:cNvSpPr/>
          <p:nvPr/>
        </p:nvSpPr>
        <p:spPr>
          <a:xfrm>
            <a:off x="886968" y="4084625"/>
            <a:ext cx="1024128" cy="64008"/>
          </a:xfrm>
          <a:prstGeom prst="rect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6" name="sk1-r1-l2"/>
          <p:cNvSpPr/>
          <p:nvPr/>
        </p:nvSpPr>
        <p:spPr>
          <a:xfrm>
            <a:off x="886968" y="4221785"/>
            <a:ext cx="658368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7" name="sk1-r1-b"/>
          <p:cNvSpPr/>
          <p:nvPr/>
        </p:nvSpPr>
        <p:spPr>
          <a:xfrm>
            <a:off x="886968" y="4279392"/>
            <a:ext cx="555955" cy="155448"/>
          </a:xfrm>
          <a:prstGeom prst="roundRect">
            <a:avLst>
              <a:gd name="adj" fmla="val 29412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8" name="sk1-r2-c"/>
          <p:cNvSpPr/>
          <p:nvPr/>
        </p:nvSpPr>
        <p:spPr>
          <a:xfrm>
            <a:off x="2377440" y="347472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9" name="sk1-r2-t"/>
          <p:cNvSpPr/>
          <p:nvPr/>
        </p:nvSpPr>
        <p:spPr>
          <a:xfrm>
            <a:off x="2432304" y="3529584"/>
            <a:ext cx="1353312" cy="441655"/>
          </a:xfrm>
          <a:prstGeom prst="roundRect">
            <a:avLst>
              <a:gd name="adj" fmla="val 8282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20" name="sk1-r2-l1"/>
          <p:cNvSpPr/>
          <p:nvPr/>
        </p:nvSpPr>
        <p:spPr>
          <a:xfrm>
            <a:off x="2487168" y="4084625"/>
            <a:ext cx="1024128" cy="64008"/>
          </a:xfrm>
          <a:prstGeom prst="rect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21" name="sk1-r2-l2"/>
          <p:cNvSpPr/>
          <p:nvPr/>
        </p:nvSpPr>
        <p:spPr>
          <a:xfrm>
            <a:off x="2487168" y="4221785"/>
            <a:ext cx="658368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sk1-r2-b"/>
          <p:cNvSpPr/>
          <p:nvPr/>
        </p:nvSpPr>
        <p:spPr>
          <a:xfrm>
            <a:off x="2487168" y="4279392"/>
            <a:ext cx="555955" cy="155448"/>
          </a:xfrm>
          <a:prstGeom prst="roundRect">
            <a:avLst>
              <a:gd name="adj" fmla="val 29412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3" name="entry-cap-1"/>
          <p:cNvSpPr txBox="1"/>
          <p:nvPr/>
        </p:nvSpPr>
        <p:spPr>
          <a:xfrm>
            <a:off x="731520" y="4846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3"/>
                </a:solidFill>
              </a:rPr>
              <a:t>말로 조건을 적으면 맞는 활동이 바로 뜸</a:t>
            </a:r>
            <a:endParaRPr lang="en-US" sz="1300" dirty="0"/>
          </a:p>
        </p:txBody>
      </p:sp>
      <p:sp>
        <p:nvSpPr>
          <p:cNvPr id="24" name="entry-2"/>
          <p:cNvSpPr/>
          <p:nvPr/>
        </p:nvSpPr>
        <p:spPr>
          <a:xfrm>
            <a:off x="4336999" y="12344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EDF5F0"/>
          </a:solidFill>
          <a:ln w="19050">
            <a:solidFill>
              <a:srgbClr val="D3E7DC"/>
            </a:solidFill>
            <a:prstDash val="solid"/>
          </a:ln>
        </p:spPr>
      </p:sp>
      <p:sp>
        <p:nvSpPr>
          <p:cNvPr id="25" name="entry-t-2"/>
          <p:cNvSpPr txBox="1"/>
          <p:nvPr/>
        </p:nvSpPr>
        <p:spPr>
          <a:xfrm>
            <a:off x="4519879" y="1417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추천 질문 누르기</a:t>
            </a:r>
            <a:endParaRPr lang="en-US" sz="1800" dirty="0"/>
          </a:p>
        </p:txBody>
      </p:sp>
      <p:sp>
        <p:nvSpPr>
          <p:cNvPr id="26" name="sk2-p1"/>
          <p:cNvSpPr/>
          <p:nvPr/>
        </p:nvSpPr>
        <p:spPr>
          <a:xfrm>
            <a:off x="4565599" y="210312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7" name="sk2-p1-t"/>
          <p:cNvSpPr txBox="1"/>
          <p:nvPr/>
        </p:nvSpPr>
        <p:spPr>
          <a:xfrm>
            <a:off x="4565599" y="2103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집중이 흐트러졌어요</a:t>
            </a:r>
            <a:endParaRPr lang="en-US" sz="1000" dirty="0"/>
          </a:p>
        </p:txBody>
      </p:sp>
      <p:sp>
        <p:nvSpPr>
          <p:cNvPr id="28" name="sk2-p2"/>
          <p:cNvSpPr/>
          <p:nvPr/>
        </p:nvSpPr>
        <p:spPr>
          <a:xfrm>
            <a:off x="6257239" y="21031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9" name="sk2-p2-t"/>
          <p:cNvSpPr txBox="1"/>
          <p:nvPr/>
        </p:nvSpPr>
        <p:spPr>
          <a:xfrm>
            <a:off x="6257239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수준 차이가 커요</a:t>
            </a:r>
            <a:endParaRPr lang="en-US" sz="1000" dirty="0"/>
          </a:p>
        </p:txBody>
      </p:sp>
      <p:sp>
        <p:nvSpPr>
          <p:cNvPr id="30" name="sk2-p3"/>
          <p:cNvSpPr/>
          <p:nvPr/>
        </p:nvSpPr>
        <p:spPr>
          <a:xfrm>
            <a:off x="4565599" y="24231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1" name="sk2-p3-t"/>
          <p:cNvSpPr txBox="1"/>
          <p:nvPr/>
        </p:nvSpPr>
        <p:spPr>
          <a:xfrm>
            <a:off x="4565599" y="2423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오늘 내용 정리</a:t>
            </a:r>
            <a:endParaRPr lang="en-US" sz="1000" dirty="0"/>
          </a:p>
        </p:txBody>
      </p:sp>
      <p:sp>
        <p:nvSpPr>
          <p:cNvPr id="32" name="sk2-p4"/>
          <p:cNvSpPr/>
          <p:nvPr/>
        </p:nvSpPr>
        <p:spPr>
          <a:xfrm>
            <a:off x="5891479" y="242316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3" name="sk2-p4-t"/>
          <p:cNvSpPr txBox="1"/>
          <p:nvPr/>
        </p:nvSpPr>
        <p:spPr>
          <a:xfrm>
            <a:off x="5891479" y="2423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깜짝 퀴즈</a:t>
            </a:r>
            <a:endParaRPr lang="en-US" sz="1000" dirty="0"/>
          </a:p>
        </p:txBody>
      </p:sp>
      <p:sp>
        <p:nvSpPr>
          <p:cNvPr id="34" name="sk2-p5"/>
          <p:cNvSpPr/>
          <p:nvPr/>
        </p:nvSpPr>
        <p:spPr>
          <a:xfrm>
            <a:off x="4565599" y="27432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5" name="sk2-p5-t"/>
          <p:cNvSpPr txBox="1"/>
          <p:nvPr/>
        </p:nvSpPr>
        <p:spPr>
          <a:xfrm>
            <a:off x="4565599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코드 오류 찾기</a:t>
            </a:r>
            <a:endParaRPr lang="en-US" sz="1000" dirty="0"/>
          </a:p>
        </p:txBody>
      </p:sp>
      <p:sp>
        <p:nvSpPr>
          <p:cNvPr id="36" name="sk2-p6"/>
          <p:cNvSpPr/>
          <p:nvPr/>
        </p:nvSpPr>
        <p:spPr>
          <a:xfrm>
            <a:off x="5937199" y="27432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7" name="sk2-p6-t"/>
          <p:cNvSpPr txBox="1"/>
          <p:nvPr/>
        </p:nvSpPr>
        <p:spPr>
          <a:xfrm>
            <a:off x="5937199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알고리즘 순서 정하기</a:t>
            </a:r>
            <a:endParaRPr lang="en-US" sz="1000" dirty="0"/>
          </a:p>
        </p:txBody>
      </p:sp>
      <p:sp>
        <p:nvSpPr>
          <p:cNvPr id="38" name="sk2-arrow"/>
          <p:cNvSpPr/>
          <p:nvPr/>
        </p:nvSpPr>
        <p:spPr>
          <a:xfrm>
            <a:off x="5950915" y="3108960"/>
            <a:ext cx="292608" cy="292608"/>
          </a:xfrm>
          <a:prstGeom prst="down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39" name="sk2-r1-c"/>
          <p:cNvSpPr/>
          <p:nvPr/>
        </p:nvSpPr>
        <p:spPr>
          <a:xfrm>
            <a:off x="4565599" y="347472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0" name="sk2-r1-t"/>
          <p:cNvSpPr/>
          <p:nvPr/>
        </p:nvSpPr>
        <p:spPr>
          <a:xfrm>
            <a:off x="4620463" y="3529584"/>
            <a:ext cx="1353312" cy="441655"/>
          </a:xfrm>
          <a:prstGeom prst="roundRect">
            <a:avLst>
              <a:gd name="adj" fmla="val 8282"/>
            </a:avLst>
          </a:prstGeom>
          <a:solidFill>
            <a:srgbClr val="F8DCD6"/>
          </a:solidFill>
          <a:ln w="12700">
            <a:solidFill>
              <a:srgbClr val="F8DCD6"/>
            </a:solidFill>
            <a:prstDash val="solid"/>
          </a:ln>
        </p:spPr>
      </p:sp>
      <p:sp>
        <p:nvSpPr>
          <p:cNvPr id="41" name="sk2-r1-l1"/>
          <p:cNvSpPr/>
          <p:nvPr/>
        </p:nvSpPr>
        <p:spPr>
          <a:xfrm>
            <a:off x="4675327" y="4084625"/>
            <a:ext cx="1024128" cy="64008"/>
          </a:xfrm>
          <a:prstGeom prst="rect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42" name="sk2-r1-l2"/>
          <p:cNvSpPr/>
          <p:nvPr/>
        </p:nvSpPr>
        <p:spPr>
          <a:xfrm>
            <a:off x="4675327" y="4221785"/>
            <a:ext cx="658368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3" name="sk2-r1-b"/>
          <p:cNvSpPr/>
          <p:nvPr/>
        </p:nvSpPr>
        <p:spPr>
          <a:xfrm>
            <a:off x="4675327" y="4279392"/>
            <a:ext cx="555955" cy="155448"/>
          </a:xfrm>
          <a:prstGeom prst="roundRect">
            <a:avLst>
              <a:gd name="adj" fmla="val 29412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4" name="sk2-r2-c"/>
          <p:cNvSpPr/>
          <p:nvPr/>
        </p:nvSpPr>
        <p:spPr>
          <a:xfrm>
            <a:off x="6165799" y="347472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5" name="sk2-r2-t"/>
          <p:cNvSpPr/>
          <p:nvPr/>
        </p:nvSpPr>
        <p:spPr>
          <a:xfrm>
            <a:off x="6220663" y="3529584"/>
            <a:ext cx="1353312" cy="441655"/>
          </a:xfrm>
          <a:prstGeom prst="roundRect">
            <a:avLst>
              <a:gd name="adj" fmla="val 8282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46" name="sk2-r2-l1"/>
          <p:cNvSpPr/>
          <p:nvPr/>
        </p:nvSpPr>
        <p:spPr>
          <a:xfrm>
            <a:off x="6275527" y="4084625"/>
            <a:ext cx="1024128" cy="64008"/>
          </a:xfrm>
          <a:prstGeom prst="rect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47" name="sk2-r2-l2"/>
          <p:cNvSpPr/>
          <p:nvPr/>
        </p:nvSpPr>
        <p:spPr>
          <a:xfrm>
            <a:off x="6275527" y="4221785"/>
            <a:ext cx="658368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8" name="sk2-r2-b"/>
          <p:cNvSpPr/>
          <p:nvPr/>
        </p:nvSpPr>
        <p:spPr>
          <a:xfrm>
            <a:off x="6275527" y="4279392"/>
            <a:ext cx="555955" cy="155448"/>
          </a:xfrm>
          <a:prstGeom prst="roundRect">
            <a:avLst>
              <a:gd name="adj" fmla="val 29412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9" name="entry-cap-2"/>
          <p:cNvSpPr txBox="1"/>
          <p:nvPr/>
        </p:nvSpPr>
        <p:spPr>
          <a:xfrm>
            <a:off x="4519879" y="4846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3"/>
                </a:solidFill>
              </a:rPr>
              <a:t>상황 4개 + 교과 추천 질문 중 하나를 누름</a:t>
            </a:r>
            <a:endParaRPr lang="en-US" sz="1300" dirty="0"/>
          </a:p>
        </p:txBody>
      </p:sp>
      <p:sp>
        <p:nvSpPr>
          <p:cNvPr id="50" name="entry-3"/>
          <p:cNvSpPr/>
          <p:nvPr/>
        </p:nvSpPr>
        <p:spPr>
          <a:xfrm>
            <a:off x="8125358" y="1234440"/>
            <a:ext cx="3520440" cy="4343400"/>
          </a:xfrm>
          <a:prstGeom prst="roundRect">
            <a:avLst>
              <a:gd name="adj" fmla="val 2597"/>
            </a:avLst>
          </a:prstGeom>
          <a:solidFill>
            <a:srgbClr val="FAF4DE"/>
          </a:solidFill>
          <a:ln w="19050">
            <a:solidFill>
              <a:srgbClr val="F1E3B0"/>
            </a:solidFill>
            <a:prstDash val="solid"/>
          </a:ln>
        </p:spPr>
      </p:sp>
      <p:sp>
        <p:nvSpPr>
          <p:cNvPr id="51" name="entry-t-3"/>
          <p:cNvSpPr txBox="1"/>
          <p:nvPr/>
        </p:nvSpPr>
        <p:spPr>
          <a:xfrm>
            <a:off x="8308238" y="1417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활동 고르기 메뉴</a:t>
            </a:r>
            <a:endParaRPr lang="en-US" sz="1800" dirty="0"/>
          </a:p>
        </p:txBody>
      </p:sp>
      <p:sp>
        <p:nvSpPr>
          <p:cNvPr id="52" name="sk3-f1"/>
          <p:cNvSpPr/>
          <p:nvPr/>
        </p:nvSpPr>
        <p:spPr>
          <a:xfrm>
            <a:off x="8353958" y="210312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3" name="sk3-f1-t"/>
          <p:cNvSpPr txBox="1"/>
          <p:nvPr/>
        </p:nvSpPr>
        <p:spPr>
          <a:xfrm>
            <a:off x="8353958" y="2103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전체</a:t>
            </a:r>
            <a:endParaRPr lang="en-US" sz="1000" dirty="0"/>
          </a:p>
        </p:txBody>
      </p:sp>
      <p:sp>
        <p:nvSpPr>
          <p:cNvPr id="54" name="sk3-f2"/>
          <p:cNvSpPr/>
          <p:nvPr/>
        </p:nvSpPr>
        <p:spPr>
          <a:xfrm>
            <a:off x="8975750" y="210312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5" name="sk3-f2-t"/>
          <p:cNvSpPr txBox="1"/>
          <p:nvPr/>
        </p:nvSpPr>
        <p:spPr>
          <a:xfrm>
            <a:off x="8975750" y="2103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집중</a:t>
            </a:r>
            <a:endParaRPr lang="en-US" sz="1000" dirty="0"/>
          </a:p>
        </p:txBody>
      </p:sp>
      <p:sp>
        <p:nvSpPr>
          <p:cNvPr id="56" name="sk3-f3"/>
          <p:cNvSpPr/>
          <p:nvPr/>
        </p:nvSpPr>
        <p:spPr>
          <a:xfrm>
            <a:off x="9597542" y="210312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7" name="sk3-f3-t"/>
          <p:cNvSpPr txBox="1"/>
          <p:nvPr/>
        </p:nvSpPr>
        <p:spPr>
          <a:xfrm>
            <a:off x="9597542" y="2103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정리</a:t>
            </a:r>
            <a:endParaRPr lang="en-US" sz="1000" dirty="0"/>
          </a:p>
        </p:txBody>
      </p:sp>
      <p:sp>
        <p:nvSpPr>
          <p:cNvPr id="58" name="sk3-f4"/>
          <p:cNvSpPr/>
          <p:nvPr/>
        </p:nvSpPr>
        <p:spPr>
          <a:xfrm>
            <a:off x="10219334" y="210312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9" name="sk3-f4-t"/>
          <p:cNvSpPr txBox="1"/>
          <p:nvPr/>
        </p:nvSpPr>
        <p:spPr>
          <a:xfrm>
            <a:off x="10219334" y="2103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퀴즈</a:t>
            </a:r>
            <a:endParaRPr lang="en-US" sz="1000" dirty="0"/>
          </a:p>
        </p:txBody>
      </p:sp>
      <p:sp>
        <p:nvSpPr>
          <p:cNvPr id="60" name="sk3-search"/>
          <p:cNvSpPr/>
          <p:nvPr/>
        </p:nvSpPr>
        <p:spPr>
          <a:xfrm>
            <a:off x="8353958" y="2450592"/>
            <a:ext cx="30632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1" name="sk3-search-t"/>
          <p:cNvSpPr txBox="1"/>
          <p:nvPr/>
        </p:nvSpPr>
        <p:spPr>
          <a:xfrm>
            <a:off x="8463686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5"/>
                </a:solidFill>
              </a:rPr>
              <a:t>단원 · 활동 이름으로 찾기</a:t>
            </a:r>
            <a:endParaRPr lang="en-US" sz="1000" dirty="0"/>
          </a:p>
        </p:txBody>
      </p:sp>
      <p:sp>
        <p:nvSpPr>
          <p:cNvPr id="62" name="sk3-g0-c"/>
          <p:cNvSpPr/>
          <p:nvPr/>
        </p:nvSpPr>
        <p:spPr>
          <a:xfrm>
            <a:off x="8353958" y="288036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3" name="sk3-g0-t"/>
          <p:cNvSpPr/>
          <p:nvPr/>
        </p:nvSpPr>
        <p:spPr>
          <a:xfrm>
            <a:off x="8408822" y="2935224"/>
            <a:ext cx="1353312" cy="314919"/>
          </a:xfrm>
          <a:prstGeom prst="roundRect">
            <a:avLst>
              <a:gd name="adj" fmla="val 11614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64" name="sk3-g0-l1"/>
          <p:cNvSpPr/>
          <p:nvPr/>
        </p:nvSpPr>
        <p:spPr>
          <a:xfrm>
            <a:off x="8463686" y="3315249"/>
            <a:ext cx="1024128" cy="64008"/>
          </a:xfrm>
          <a:prstGeom prst="rect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65" name="sk3-g0-b"/>
          <p:cNvSpPr/>
          <p:nvPr/>
        </p:nvSpPr>
        <p:spPr>
          <a:xfrm>
            <a:off x="8463686" y="3383280"/>
            <a:ext cx="555955" cy="155448"/>
          </a:xfrm>
          <a:prstGeom prst="roundRect">
            <a:avLst>
              <a:gd name="adj" fmla="val 29412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66" name="sk3-g1-c"/>
          <p:cNvSpPr/>
          <p:nvPr/>
        </p:nvSpPr>
        <p:spPr>
          <a:xfrm>
            <a:off x="9954158" y="288036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7" name="sk3-g1-t"/>
          <p:cNvSpPr/>
          <p:nvPr/>
        </p:nvSpPr>
        <p:spPr>
          <a:xfrm>
            <a:off x="10009022" y="2935224"/>
            <a:ext cx="1353312" cy="314919"/>
          </a:xfrm>
          <a:prstGeom prst="roundRect">
            <a:avLst>
              <a:gd name="adj" fmla="val 11614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68" name="sk3-g1-l1"/>
          <p:cNvSpPr/>
          <p:nvPr/>
        </p:nvSpPr>
        <p:spPr>
          <a:xfrm>
            <a:off x="10063886" y="3315249"/>
            <a:ext cx="1024128" cy="64008"/>
          </a:xfrm>
          <a:prstGeom prst="rect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69" name="sk3-g1-b"/>
          <p:cNvSpPr/>
          <p:nvPr/>
        </p:nvSpPr>
        <p:spPr>
          <a:xfrm>
            <a:off x="10063886" y="3383280"/>
            <a:ext cx="555955" cy="155448"/>
          </a:xfrm>
          <a:prstGeom prst="roundRect">
            <a:avLst>
              <a:gd name="adj" fmla="val 29412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70" name="sk3-g2-c"/>
          <p:cNvSpPr/>
          <p:nvPr/>
        </p:nvSpPr>
        <p:spPr>
          <a:xfrm>
            <a:off x="8353958" y="3721608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1" name="sk3-g2-t"/>
          <p:cNvSpPr/>
          <p:nvPr/>
        </p:nvSpPr>
        <p:spPr>
          <a:xfrm>
            <a:off x="8408822" y="3776472"/>
            <a:ext cx="1353312" cy="314919"/>
          </a:xfrm>
          <a:prstGeom prst="roundRect">
            <a:avLst>
              <a:gd name="adj" fmla="val 11614"/>
            </a:avLst>
          </a:prstGeom>
          <a:solidFill>
            <a:srgbClr val="F8DCD6"/>
          </a:solidFill>
          <a:ln w="12700">
            <a:solidFill>
              <a:srgbClr val="F8DCD6"/>
            </a:solidFill>
            <a:prstDash val="solid"/>
          </a:ln>
        </p:spPr>
      </p:sp>
      <p:sp>
        <p:nvSpPr>
          <p:cNvPr id="72" name="sk3-g2-l1"/>
          <p:cNvSpPr/>
          <p:nvPr/>
        </p:nvSpPr>
        <p:spPr>
          <a:xfrm>
            <a:off x="8463686" y="4156497"/>
            <a:ext cx="1024128" cy="64008"/>
          </a:xfrm>
          <a:prstGeom prst="rect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73" name="sk3-g2-b"/>
          <p:cNvSpPr/>
          <p:nvPr/>
        </p:nvSpPr>
        <p:spPr>
          <a:xfrm>
            <a:off x="8463686" y="4224528"/>
            <a:ext cx="555955" cy="155448"/>
          </a:xfrm>
          <a:prstGeom prst="roundRect">
            <a:avLst>
              <a:gd name="adj" fmla="val 29412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74" name="sk3-g3-c"/>
          <p:cNvSpPr/>
          <p:nvPr/>
        </p:nvSpPr>
        <p:spPr>
          <a:xfrm>
            <a:off x="9954158" y="3721608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5" name="sk3-g3-t"/>
          <p:cNvSpPr/>
          <p:nvPr/>
        </p:nvSpPr>
        <p:spPr>
          <a:xfrm>
            <a:off x="10009022" y="3776472"/>
            <a:ext cx="1353312" cy="314919"/>
          </a:xfrm>
          <a:prstGeom prst="roundRect">
            <a:avLst>
              <a:gd name="adj" fmla="val 11614"/>
            </a:avLst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76" name="sk3-g3-l1"/>
          <p:cNvSpPr/>
          <p:nvPr/>
        </p:nvSpPr>
        <p:spPr>
          <a:xfrm>
            <a:off x="10063886" y="4156497"/>
            <a:ext cx="1024128" cy="64008"/>
          </a:xfrm>
          <a:prstGeom prst="rect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77" name="sk3-g3-b"/>
          <p:cNvSpPr/>
          <p:nvPr/>
        </p:nvSpPr>
        <p:spPr>
          <a:xfrm>
            <a:off x="10063886" y="4224528"/>
            <a:ext cx="555955" cy="155448"/>
          </a:xfrm>
          <a:prstGeom prst="roundRect">
            <a:avLst>
              <a:gd name="adj" fmla="val 29412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78" name="entry-cap-3"/>
          <p:cNvSpPr txBox="1"/>
          <p:nvPr/>
        </p:nvSpPr>
        <p:spPr>
          <a:xfrm>
            <a:off x="8308238" y="4846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3"/>
                </a:solidFill>
              </a:rPr>
              <a:t>상황 · 단원 · 유형으로 목록에서 직접 찾기</a:t>
            </a:r>
            <a:endParaRPr lang="en-US" sz="1300" dirty="0"/>
          </a:p>
        </p:txBody>
      </p:sp>
      <p:sp>
        <p:nvSpPr>
          <p:cNvPr id="79" name="or-1"/>
          <p:cNvSpPr/>
          <p:nvPr/>
        </p:nvSpPr>
        <p:spPr>
          <a:xfrm>
            <a:off x="3767328" y="3200400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80" name="or-t-1"/>
          <p:cNvSpPr txBox="1"/>
          <p:nvPr/>
        </p:nvSpPr>
        <p:spPr>
          <a:xfrm>
            <a:off x="3767328" y="3200400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또는</a:t>
            </a:r>
            <a:endParaRPr lang="en-US" sz="1200" dirty="0"/>
          </a:p>
        </p:txBody>
      </p:sp>
      <p:sp>
        <p:nvSpPr>
          <p:cNvPr id="81" name="or-2"/>
          <p:cNvSpPr/>
          <p:nvPr/>
        </p:nvSpPr>
        <p:spPr>
          <a:xfrm>
            <a:off x="7555687" y="3200400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82" name="or-t-2"/>
          <p:cNvSpPr txBox="1"/>
          <p:nvPr/>
        </p:nvSpPr>
        <p:spPr>
          <a:xfrm>
            <a:off x="7555687" y="3200400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또는</a:t>
            </a:r>
            <a:endParaRPr lang="en-US" sz="1200" dirty="0"/>
          </a:p>
        </p:txBody>
      </p:sp>
      <p:sp>
        <p:nvSpPr>
          <p:cNvPr id="83" name="find-note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결과는 모두 같은 활동 카드로 · 그대로 배포 / 고쳐서 배포 / 미리보기   |   없으면 다른 교과까지 → 그래도 없으면 직접 만들기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고르고: 미리보기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3630706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6 / 17</a:t>
            </a:r>
            <a:endParaRPr lang="en-US" sz="1100" dirty="0"/>
          </a:p>
        </p:txBody>
      </p:sp>
      <p:sp>
        <p:nvSpPr>
          <p:cNvPr id="6" name="pv-frame"/>
          <p:cNvSpPr/>
          <p:nvPr/>
        </p:nvSpPr>
        <p:spPr>
          <a:xfrm>
            <a:off x="548640" y="137160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F3F1F9"/>
          </a:solidFill>
          <a:ln w="19050">
            <a:solidFill>
              <a:srgbClr val="E2DDF0"/>
            </a:solidFill>
            <a:prstDash val="solid"/>
          </a:ln>
        </p:spPr>
      </p:sp>
      <p:sp>
        <p:nvSpPr>
          <p:cNvPr id="7" name="pv-title"/>
          <p:cNvSpPr txBox="1"/>
          <p:nvPr/>
        </p:nvSpPr>
        <p:spPr>
          <a:xfrm>
            <a:off x="731520" y="14813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미리보기 화면</a:t>
            </a:r>
            <a:endParaRPr lang="en-US" sz="1500" dirty="0"/>
          </a:p>
        </p:txBody>
      </p:sp>
      <p:sp>
        <p:nvSpPr>
          <p:cNvPr id="8" name="pv-tab1"/>
          <p:cNvSpPr/>
          <p:nvPr/>
        </p:nvSpPr>
        <p:spPr>
          <a:xfrm>
            <a:off x="731520" y="19202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9" name="pv-tab1-t"/>
          <p:cNvSpPr txBox="1"/>
          <p:nvPr/>
        </p:nvSpPr>
        <p:spPr>
          <a:xfrm>
            <a:off x="731520" y="19202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학생 화면</a:t>
            </a:r>
            <a:endParaRPr lang="en-US" sz="1000" dirty="0"/>
          </a:p>
        </p:txBody>
      </p:sp>
      <p:sp>
        <p:nvSpPr>
          <p:cNvPr id="10" name="pv-tab2"/>
          <p:cNvSpPr/>
          <p:nvPr/>
        </p:nvSpPr>
        <p:spPr>
          <a:xfrm>
            <a:off x="1664208" y="19202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1" name="pv-tab2-t"/>
          <p:cNvSpPr txBox="1"/>
          <p:nvPr/>
        </p:nvSpPr>
        <p:spPr>
          <a:xfrm>
            <a:off x="1664208" y="1920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인쇄본</a:t>
            </a:r>
            <a:endParaRPr lang="en-US" sz="1000" dirty="0"/>
          </a:p>
        </p:txBody>
      </p:sp>
      <p:sp>
        <p:nvSpPr>
          <p:cNvPr id="12" name="pv-tab3"/>
          <p:cNvSpPr/>
          <p:nvPr/>
        </p:nvSpPr>
        <p:spPr>
          <a:xfrm>
            <a:off x="2414016" y="19202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3" name="pv-tab3-t"/>
          <p:cNvSpPr txBox="1"/>
          <p:nvPr/>
        </p:nvSpPr>
        <p:spPr>
          <a:xfrm>
            <a:off x="2414016" y="19202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교사용 정답</a:t>
            </a:r>
            <a:endParaRPr lang="en-US" sz="1000" dirty="0"/>
          </a:p>
        </p:txBody>
      </p:sp>
      <p:sp>
        <p:nvSpPr>
          <p:cNvPr id="14" name="pv-sheet"/>
          <p:cNvSpPr/>
          <p:nvPr/>
        </p:nvSpPr>
        <p:spPr>
          <a:xfrm>
            <a:off x="731520" y="2331720"/>
            <a:ext cx="27432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5" name="pv-h"/>
          <p:cNvSpPr/>
          <p:nvPr/>
        </p:nvSpPr>
        <p:spPr>
          <a:xfrm>
            <a:off x="868680" y="2468880"/>
            <a:ext cx="1463040" cy="91440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" name="pv-concept"/>
          <p:cNvSpPr/>
          <p:nvPr/>
        </p:nvSpPr>
        <p:spPr>
          <a:xfrm>
            <a:off x="868680" y="26974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17" name="pv-g00"/>
          <p:cNvSpPr/>
          <p:nvPr/>
        </p:nvSpPr>
        <p:spPr>
          <a:xfrm>
            <a:off x="914400" y="3291840"/>
            <a:ext cx="228600" cy="228600"/>
          </a:xfrm>
          <a:prstGeom prst="rect">
            <a:avLst/>
          </a:prstGeom>
          <a:solidFill>
            <a:srgbClr val="5B6B85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18" name="pv-g01"/>
          <p:cNvSpPr/>
          <p:nvPr/>
        </p:nvSpPr>
        <p:spPr>
          <a:xfrm>
            <a:off x="1170432" y="329184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19" name="pv-g02"/>
          <p:cNvSpPr/>
          <p:nvPr/>
        </p:nvSpPr>
        <p:spPr>
          <a:xfrm>
            <a:off x="1426464" y="3291840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0" name="pv-g03"/>
          <p:cNvSpPr/>
          <p:nvPr/>
        </p:nvSpPr>
        <p:spPr>
          <a:xfrm>
            <a:off x="1682496" y="3291840"/>
            <a:ext cx="228600" cy="228600"/>
          </a:xfrm>
          <a:prstGeom prst="rect">
            <a:avLst/>
          </a:prstGeom>
          <a:solidFill>
            <a:srgbClr val="5B6B85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1" name="pv-g10"/>
          <p:cNvSpPr/>
          <p:nvPr/>
        </p:nvSpPr>
        <p:spPr>
          <a:xfrm>
            <a:off x="914400" y="3547872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2" name="pv-g11"/>
          <p:cNvSpPr/>
          <p:nvPr/>
        </p:nvSpPr>
        <p:spPr>
          <a:xfrm>
            <a:off x="1170432" y="3547872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3" name="pv-g12"/>
          <p:cNvSpPr/>
          <p:nvPr/>
        </p:nvSpPr>
        <p:spPr>
          <a:xfrm>
            <a:off x="1426464" y="3547872"/>
            <a:ext cx="228600" cy="228600"/>
          </a:xfrm>
          <a:prstGeom prst="rect">
            <a:avLst/>
          </a:prstGeom>
          <a:solidFill>
            <a:srgbClr val="5B6B85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4" name="pv-g13"/>
          <p:cNvSpPr/>
          <p:nvPr/>
        </p:nvSpPr>
        <p:spPr>
          <a:xfrm>
            <a:off x="1682496" y="3547872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5" name="pv-g20"/>
          <p:cNvSpPr/>
          <p:nvPr/>
        </p:nvSpPr>
        <p:spPr>
          <a:xfrm>
            <a:off x="914400" y="3803904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6" name="pv-g21"/>
          <p:cNvSpPr/>
          <p:nvPr/>
        </p:nvSpPr>
        <p:spPr>
          <a:xfrm>
            <a:off x="1170432" y="3803904"/>
            <a:ext cx="228600" cy="228600"/>
          </a:xfrm>
          <a:prstGeom prst="rect">
            <a:avLst/>
          </a:prstGeom>
          <a:solidFill>
            <a:srgbClr val="5B6B85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7" name="pv-g22"/>
          <p:cNvSpPr/>
          <p:nvPr/>
        </p:nvSpPr>
        <p:spPr>
          <a:xfrm>
            <a:off x="1426464" y="3803904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8" name="pv-g23"/>
          <p:cNvSpPr/>
          <p:nvPr/>
        </p:nvSpPr>
        <p:spPr>
          <a:xfrm>
            <a:off x="1682496" y="3803904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29" name="pv-g30"/>
          <p:cNvSpPr/>
          <p:nvPr/>
        </p:nvSpPr>
        <p:spPr>
          <a:xfrm>
            <a:off x="914400" y="4059936"/>
            <a:ext cx="228600" cy="228600"/>
          </a:xfrm>
          <a:prstGeom prst="rect">
            <a:avLst/>
          </a:prstGeom>
          <a:solidFill>
            <a:srgbClr val="5B6B85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30" name="pv-g31"/>
          <p:cNvSpPr/>
          <p:nvPr/>
        </p:nvSpPr>
        <p:spPr>
          <a:xfrm>
            <a:off x="1170432" y="4059936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31" name="pv-g32"/>
          <p:cNvSpPr/>
          <p:nvPr/>
        </p:nvSpPr>
        <p:spPr>
          <a:xfrm>
            <a:off x="1426464" y="4059936"/>
            <a:ext cx="2286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32" name="pv-g33"/>
          <p:cNvSpPr/>
          <p:nvPr/>
        </p:nvSpPr>
        <p:spPr>
          <a:xfrm>
            <a:off x="1682496" y="4059936"/>
            <a:ext cx="228600" cy="228600"/>
          </a:xfrm>
          <a:prstGeom prst="rect">
            <a:avLst/>
          </a:prstGeom>
          <a:solidFill>
            <a:srgbClr val="5B6B85"/>
          </a:solidFill>
          <a:ln w="6350">
            <a:solidFill>
              <a:srgbClr val="B9C3D1"/>
            </a:solidFill>
            <a:prstDash val="solid"/>
          </a:ln>
        </p:spPr>
      </p:sp>
      <p:sp>
        <p:nvSpPr>
          <p:cNvPr id="33" name="pv-c0"/>
          <p:cNvSpPr/>
          <p:nvPr/>
        </p:nvSpPr>
        <p:spPr>
          <a:xfrm>
            <a:off x="2103120" y="3337560"/>
            <a:ext cx="118872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4" name="pv-c1"/>
          <p:cNvSpPr/>
          <p:nvPr/>
        </p:nvSpPr>
        <p:spPr>
          <a:xfrm>
            <a:off x="2103120" y="3575304"/>
            <a:ext cx="86868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5" name="pv-c2"/>
          <p:cNvSpPr/>
          <p:nvPr/>
        </p:nvSpPr>
        <p:spPr>
          <a:xfrm>
            <a:off x="2103120" y="3813048"/>
            <a:ext cx="118872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pv-c3"/>
          <p:cNvSpPr/>
          <p:nvPr/>
        </p:nvSpPr>
        <p:spPr>
          <a:xfrm>
            <a:off x="2103120" y="4050792"/>
            <a:ext cx="86868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7" name="pv-frameq"/>
          <p:cNvSpPr/>
          <p:nvPr/>
        </p:nvSpPr>
        <p:spPr>
          <a:xfrm>
            <a:off x="868680" y="4480560"/>
            <a:ext cx="24688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9D1DC"/>
            </a:solidFill>
            <a:prstDash val="dash"/>
          </a:ln>
        </p:spPr>
      </p:sp>
      <p:sp>
        <p:nvSpPr>
          <p:cNvPr id="38" name="pv-l1"/>
          <p:cNvSpPr/>
          <p:nvPr/>
        </p:nvSpPr>
        <p:spPr>
          <a:xfrm>
            <a:off x="868680" y="5120640"/>
            <a:ext cx="201168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9" name="pv-l2"/>
          <p:cNvSpPr/>
          <p:nvPr/>
        </p:nvSpPr>
        <p:spPr>
          <a:xfrm>
            <a:off x="868680" y="5303520"/>
            <a:ext cx="146304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0" name="pv-tag1"/>
          <p:cNvSpPr/>
          <p:nvPr/>
        </p:nvSpPr>
        <p:spPr>
          <a:xfrm>
            <a:off x="3611880" y="2331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1" name="pv-tag1-t"/>
          <p:cNvSpPr txBox="1"/>
          <p:nvPr/>
        </p:nvSpPr>
        <p:spPr>
          <a:xfrm>
            <a:off x="3611880" y="2331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집중</a:t>
            </a:r>
            <a:endParaRPr lang="en-US" sz="1000" dirty="0"/>
          </a:p>
        </p:txBody>
      </p:sp>
      <p:sp>
        <p:nvSpPr>
          <p:cNvPr id="42" name="pv-tag2"/>
          <p:cNvSpPr/>
          <p:nvPr/>
        </p:nvSpPr>
        <p:spPr>
          <a:xfrm>
            <a:off x="4434840" y="2331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3" name="pv-tag2-t"/>
          <p:cNvSpPr txBox="1"/>
          <p:nvPr/>
        </p:nvSpPr>
        <p:spPr>
          <a:xfrm>
            <a:off x="4434840" y="2331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정리</a:t>
            </a:r>
            <a:endParaRPr lang="en-US" sz="1000" dirty="0"/>
          </a:p>
        </p:txBody>
      </p:sp>
      <p:sp>
        <p:nvSpPr>
          <p:cNvPr id="44" name="pv-goal"/>
          <p:cNvSpPr txBox="1"/>
          <p:nvPr/>
        </p:nvSpPr>
        <p:spPr>
          <a:xfrm>
            <a:off x="3611880" y="2743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학습목표</a:t>
            </a:r>
            <a:endParaRPr lang="en-US" sz="1000" dirty="0"/>
          </a:p>
        </p:txBody>
      </p:sp>
      <p:sp>
        <p:nvSpPr>
          <p:cNvPr id="45" name="pv-gl0"/>
          <p:cNvSpPr/>
          <p:nvPr/>
        </p:nvSpPr>
        <p:spPr>
          <a:xfrm>
            <a:off x="3611880" y="3035808"/>
            <a:ext cx="160020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6" name="pv-gl1"/>
          <p:cNvSpPr/>
          <p:nvPr/>
        </p:nvSpPr>
        <p:spPr>
          <a:xfrm>
            <a:off x="3611880" y="3200400"/>
            <a:ext cx="123444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7" name="pv-flow"/>
          <p:cNvSpPr txBox="1"/>
          <p:nvPr/>
        </p:nvSpPr>
        <p:spPr>
          <a:xfrm>
            <a:off x="3611880" y="3429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수업 흐름</a:t>
            </a:r>
            <a:endParaRPr lang="en-US" sz="1000" dirty="0"/>
          </a:p>
        </p:txBody>
      </p:sp>
      <p:sp>
        <p:nvSpPr>
          <p:cNvPr id="48" name="pv-fl0"/>
          <p:cNvSpPr/>
          <p:nvPr/>
        </p:nvSpPr>
        <p:spPr>
          <a:xfrm>
            <a:off x="3611880" y="3721608"/>
            <a:ext cx="141732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9" name="pv-fl1"/>
          <p:cNvSpPr/>
          <p:nvPr/>
        </p:nvSpPr>
        <p:spPr>
          <a:xfrm>
            <a:off x="3611880" y="3886200"/>
            <a:ext cx="114300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0" name="pv-fl2"/>
          <p:cNvSpPr/>
          <p:nvPr/>
        </p:nvSpPr>
        <p:spPr>
          <a:xfrm>
            <a:off x="3611880" y="4050792"/>
            <a:ext cx="1417320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1" name="pv-b1"/>
          <p:cNvSpPr/>
          <p:nvPr/>
        </p:nvSpPr>
        <p:spPr>
          <a:xfrm>
            <a:off x="3611880" y="438912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2" name="pv-b1t"/>
          <p:cNvSpPr txBox="1"/>
          <p:nvPr/>
        </p:nvSpPr>
        <p:spPr>
          <a:xfrm>
            <a:off x="3611880" y="4389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그대로 배포</a:t>
            </a:r>
            <a:endParaRPr lang="en-US" sz="1100" dirty="0"/>
          </a:p>
        </p:txBody>
      </p:sp>
      <p:sp>
        <p:nvSpPr>
          <p:cNvPr id="53" name="pv-b2"/>
          <p:cNvSpPr/>
          <p:nvPr/>
        </p:nvSpPr>
        <p:spPr>
          <a:xfrm>
            <a:off x="3611880" y="480060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4" name="pv-b2t"/>
          <p:cNvSpPr txBox="1"/>
          <p:nvPr/>
        </p:nvSpPr>
        <p:spPr>
          <a:xfrm>
            <a:off x="3611880" y="4800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</a:rPr>
              <a:t>고쳐서</a:t>
            </a:r>
            <a:endParaRPr lang="en-US" sz="1000" dirty="0"/>
          </a:p>
        </p:txBody>
      </p:sp>
      <p:sp>
        <p:nvSpPr>
          <p:cNvPr id="55" name="pv-b3"/>
          <p:cNvSpPr/>
          <p:nvPr/>
        </p:nvSpPr>
        <p:spPr>
          <a:xfrm>
            <a:off x="4434840" y="480060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6" name="pv-b3t"/>
          <p:cNvSpPr txBox="1"/>
          <p:nvPr/>
        </p:nvSpPr>
        <p:spPr>
          <a:xfrm>
            <a:off x="4434840" y="4800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</a:rPr>
              <a:t>직접 만들기</a:t>
            </a:r>
            <a:endParaRPr lang="en-US" sz="1000" dirty="0"/>
          </a:p>
        </p:txBody>
      </p:sp>
      <p:sp>
        <p:nvSpPr>
          <p:cNvPr id="57" name="pv-link-1"/>
          <p:cNvSpPr/>
          <p:nvPr/>
        </p:nvSpPr>
        <p:spPr>
          <a:xfrm flipV="1">
            <a:off x="5440680" y="2011680"/>
            <a:ext cx="822960" cy="1600200"/>
          </a:xfrm>
          <a:prstGeom prst="line">
            <a:avLst/>
          </a:prstGeom>
          <a:noFill/>
          <a:ln w="19050">
            <a:solidFill>
              <a:srgbClr val="9FB0C6"/>
            </a:solidFill>
            <a:prstDash val="solid"/>
            <a:tailEnd type="triangle"/>
          </a:ln>
        </p:spPr>
      </p:sp>
      <p:sp>
        <p:nvSpPr>
          <p:cNvPr id="58" name="pv-link-2"/>
          <p:cNvSpPr/>
          <p:nvPr/>
        </p:nvSpPr>
        <p:spPr>
          <a:xfrm>
            <a:off x="5440680" y="3611880"/>
            <a:ext cx="822960" cy="0"/>
          </a:xfrm>
          <a:prstGeom prst="line">
            <a:avLst/>
          </a:prstGeom>
          <a:noFill/>
          <a:ln w="19050">
            <a:solidFill>
              <a:srgbClr val="9FB0C6"/>
            </a:solidFill>
            <a:prstDash val="solid"/>
            <a:tailEnd type="triangle"/>
          </a:ln>
        </p:spPr>
      </p:sp>
      <p:sp>
        <p:nvSpPr>
          <p:cNvPr id="59" name="pv-link-3"/>
          <p:cNvSpPr/>
          <p:nvPr/>
        </p:nvSpPr>
        <p:spPr>
          <a:xfrm>
            <a:off x="5440680" y="3611880"/>
            <a:ext cx="822960" cy="1600200"/>
          </a:xfrm>
          <a:prstGeom prst="line">
            <a:avLst/>
          </a:prstGeom>
          <a:noFill/>
          <a:ln w="19050">
            <a:solidFill>
              <a:srgbClr val="9FB0C6"/>
            </a:solidFill>
            <a:prstDash val="solid"/>
            <a:tailEnd type="triangle"/>
          </a:ln>
        </p:spPr>
      </p:sp>
      <p:sp>
        <p:nvSpPr>
          <p:cNvPr id="60" name="pv-opt-0"/>
          <p:cNvSpPr/>
          <p:nvPr/>
        </p:nvSpPr>
        <p:spPr>
          <a:xfrm>
            <a:off x="6309360" y="1371600"/>
            <a:ext cx="5330952" cy="1280160"/>
          </a:xfrm>
          <a:prstGeom prst="roundRect">
            <a:avLst>
              <a:gd name="adj" fmla="val 7143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61" name="pv-opt-t-0"/>
          <p:cNvSpPr txBox="1"/>
          <p:nvPr/>
        </p:nvSpPr>
        <p:spPr>
          <a:xfrm>
            <a:off x="6309360" y="1371600"/>
            <a:ext cx="5330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A44"/>
                </a:solidFill>
              </a:rPr>
              <a:t>그대로 배포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44"/>
                </a:solidFill>
              </a:rPr>
              <a:t>딱 맞으면</a:t>
            </a:r>
            <a:endParaRPr lang="en-US" sz="1800" dirty="0"/>
          </a:p>
        </p:txBody>
      </p:sp>
      <p:sp>
        <p:nvSpPr>
          <p:cNvPr id="62" name="pv-opt-1"/>
          <p:cNvSpPr/>
          <p:nvPr/>
        </p:nvSpPr>
        <p:spPr>
          <a:xfrm>
            <a:off x="6309360" y="2971800"/>
            <a:ext cx="5330952" cy="1280160"/>
          </a:xfrm>
          <a:prstGeom prst="roundRect">
            <a:avLst>
              <a:gd name="adj" fmla="val 7143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63" name="pv-opt-t-1"/>
          <p:cNvSpPr txBox="1"/>
          <p:nvPr/>
        </p:nvSpPr>
        <p:spPr>
          <a:xfrm>
            <a:off x="6309360" y="2971800"/>
            <a:ext cx="5330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A44"/>
                </a:solidFill>
              </a:rPr>
              <a:t>고쳐서 배포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44"/>
                </a:solidFill>
              </a:rPr>
              <a:t>조금 다르면</a:t>
            </a:r>
            <a:endParaRPr lang="en-US" sz="1800" dirty="0"/>
          </a:p>
        </p:txBody>
      </p:sp>
      <p:sp>
        <p:nvSpPr>
          <p:cNvPr id="64" name="pv-opt-2"/>
          <p:cNvSpPr/>
          <p:nvPr/>
        </p:nvSpPr>
        <p:spPr>
          <a:xfrm>
            <a:off x="6309360" y="4572000"/>
            <a:ext cx="5330952" cy="1280160"/>
          </a:xfrm>
          <a:prstGeom prst="roundRect">
            <a:avLst>
              <a:gd name="adj" fmla="val 7143"/>
            </a:avLst>
          </a:prstGeom>
          <a:solidFill>
            <a:srgbClr val="EBCFD6"/>
          </a:solidFill>
          <a:ln w="12700">
            <a:solidFill>
              <a:srgbClr val="EBCFD6"/>
            </a:solidFill>
            <a:prstDash val="solid"/>
          </a:ln>
        </p:spPr>
      </p:sp>
      <p:sp>
        <p:nvSpPr>
          <p:cNvPr id="65" name="pv-opt-t-2"/>
          <p:cNvSpPr txBox="1"/>
          <p:nvPr/>
        </p:nvSpPr>
        <p:spPr>
          <a:xfrm>
            <a:off x="6309360" y="4572000"/>
            <a:ext cx="5330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A44"/>
                </a:solidFill>
              </a:rPr>
              <a:t>직접 만들기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44"/>
                </a:solidFill>
              </a:rPr>
              <a:t>맞는 게 없으면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바꾸고: 고쳐서 배포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4235824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7 / 17</a:t>
            </a:r>
            <a:endParaRPr lang="en-US" sz="1100" dirty="0"/>
          </a:p>
        </p:txBody>
      </p:sp>
      <p:sp>
        <p:nvSpPr>
          <p:cNvPr id="6" name="orig-t"/>
          <p:cNvSpPr txBox="1"/>
          <p:nvPr/>
        </p:nvSpPr>
        <p:spPr>
          <a:xfrm>
            <a:off x="54864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원본 활동지</a:t>
            </a:r>
            <a:endParaRPr lang="en-US" sz="1400" dirty="0"/>
          </a:p>
        </p:txBody>
      </p:sp>
      <p:sp>
        <p:nvSpPr>
          <p:cNvPr id="7" name="orig"/>
          <p:cNvSpPr/>
          <p:nvPr/>
        </p:nvSpPr>
        <p:spPr>
          <a:xfrm>
            <a:off x="777240" y="1691640"/>
            <a:ext cx="1554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C3D1"/>
            </a:solidFill>
            <a:prstDash val="solid"/>
          </a:ln>
        </p:spPr>
      </p:sp>
      <p:sp>
        <p:nvSpPr>
          <p:cNvPr id="8" name="orig-h"/>
          <p:cNvSpPr/>
          <p:nvPr/>
        </p:nvSpPr>
        <p:spPr>
          <a:xfrm>
            <a:off x="886968" y="1801368"/>
            <a:ext cx="854964" cy="73152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" name="orig-c"/>
          <p:cNvSpPr/>
          <p:nvPr/>
        </p:nvSpPr>
        <p:spPr>
          <a:xfrm>
            <a:off x="886968" y="1984248"/>
            <a:ext cx="1335024" cy="329184"/>
          </a:xfrm>
          <a:prstGeom prst="rect">
            <a:avLst/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10" name="orig-l0"/>
          <p:cNvSpPr/>
          <p:nvPr/>
        </p:nvSpPr>
        <p:spPr>
          <a:xfrm>
            <a:off x="886968" y="2404872"/>
            <a:ext cx="1268273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orig-l1"/>
          <p:cNvSpPr/>
          <p:nvPr/>
        </p:nvSpPr>
        <p:spPr>
          <a:xfrm>
            <a:off x="886968" y="2606040"/>
            <a:ext cx="1001268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orig-l2"/>
          <p:cNvSpPr/>
          <p:nvPr/>
        </p:nvSpPr>
        <p:spPr>
          <a:xfrm>
            <a:off x="886968" y="2807208"/>
            <a:ext cx="1268273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orig-l3"/>
          <p:cNvSpPr/>
          <p:nvPr/>
        </p:nvSpPr>
        <p:spPr>
          <a:xfrm>
            <a:off x="886968" y="3008376"/>
            <a:ext cx="1001268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orig-p"/>
          <p:cNvSpPr/>
          <p:nvPr/>
        </p:nvSpPr>
        <p:spPr>
          <a:xfrm>
            <a:off x="868680" y="36576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5" name="orig-p-t"/>
          <p:cNvSpPr txBox="1"/>
          <p:nvPr/>
        </p:nvSpPr>
        <p:spPr>
          <a:xfrm>
            <a:off x="86868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그대로 유지</a:t>
            </a:r>
            <a:endParaRPr lang="en-US" sz="1000" dirty="0"/>
          </a:p>
        </p:txBody>
      </p:sp>
      <p:sp>
        <p:nvSpPr>
          <p:cNvPr id="16" name="copy-t1"/>
          <p:cNvSpPr txBox="1"/>
          <p:nvPr/>
        </p:nvSpPr>
        <p:spPr>
          <a:xfrm>
            <a:off x="256032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고치기 시작</a:t>
            </a:r>
            <a:endParaRPr lang="en-US" sz="1200" dirty="0"/>
          </a:p>
        </p:txBody>
      </p:sp>
      <p:sp>
        <p:nvSpPr>
          <p:cNvPr id="17" name="copy-arrow"/>
          <p:cNvSpPr/>
          <p:nvPr/>
        </p:nvSpPr>
        <p:spPr>
          <a:xfrm>
            <a:off x="2697480" y="2514600"/>
            <a:ext cx="914400" cy="411480"/>
          </a:xfrm>
          <a:prstGeom prst="rightArrow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8" name="copy-t2"/>
          <p:cNvSpPr txBox="1"/>
          <p:nvPr/>
        </p:nvSpPr>
        <p:spPr>
          <a:xfrm>
            <a:off x="251460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사본 자동 생성</a:t>
            </a:r>
            <a:endParaRPr lang="en-US" sz="1100" dirty="0"/>
          </a:p>
        </p:txBody>
      </p:sp>
      <p:sp>
        <p:nvSpPr>
          <p:cNvPr id="19" name="copy-zone"/>
          <p:cNvSpPr/>
          <p:nvPr/>
        </p:nvSpPr>
        <p:spPr>
          <a:xfrm>
            <a:off x="3794760" y="1280160"/>
            <a:ext cx="7845552" cy="2743200"/>
          </a:xfrm>
          <a:prstGeom prst="roundRect">
            <a:avLst>
              <a:gd name="adj" fmla="val 3333"/>
            </a:avLst>
          </a:prstGeom>
          <a:solidFill>
            <a:srgbClr val="FBF7EA"/>
          </a:solidFill>
          <a:ln w="15875">
            <a:solidFill>
              <a:srgbClr val="E8D488"/>
            </a:solidFill>
            <a:prstDash val="dash"/>
          </a:ln>
        </p:spPr>
      </p:sp>
      <p:sp>
        <p:nvSpPr>
          <p:cNvPr id="20" name="copy-zone-t"/>
          <p:cNvSpPr txBox="1"/>
          <p:nvPr/>
        </p:nvSpPr>
        <p:spPr>
          <a:xfrm>
            <a:off x="3977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A3A"/>
                </a:solidFill>
              </a:rPr>
              <a:t>내 사본에서 진행 (내 자료)</a:t>
            </a:r>
            <a:endParaRPr lang="en-US" sz="1300" dirty="0"/>
          </a:p>
        </p:txBody>
      </p:sp>
      <p:sp>
        <p:nvSpPr>
          <p:cNvPr id="21" name="copy"/>
          <p:cNvSpPr/>
          <p:nvPr/>
        </p:nvSpPr>
        <p:spPr>
          <a:xfrm>
            <a:off x="4023360" y="1828800"/>
            <a:ext cx="1325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9C3D1"/>
            </a:solidFill>
            <a:prstDash val="solid"/>
          </a:ln>
        </p:spPr>
      </p:sp>
      <p:sp>
        <p:nvSpPr>
          <p:cNvPr id="22" name="copy-h"/>
          <p:cNvSpPr/>
          <p:nvPr/>
        </p:nvSpPr>
        <p:spPr>
          <a:xfrm>
            <a:off x="4133088" y="1938528"/>
            <a:ext cx="729234" cy="73152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" name="copy-c"/>
          <p:cNvSpPr/>
          <p:nvPr/>
        </p:nvSpPr>
        <p:spPr>
          <a:xfrm>
            <a:off x="4133088" y="2121408"/>
            <a:ext cx="1106424" cy="288036"/>
          </a:xfrm>
          <a:prstGeom prst="rect">
            <a:avLst/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24" name="copy-l0"/>
          <p:cNvSpPr/>
          <p:nvPr/>
        </p:nvSpPr>
        <p:spPr>
          <a:xfrm>
            <a:off x="4133088" y="2500884"/>
            <a:ext cx="1051103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5" name="copy-l1"/>
          <p:cNvSpPr/>
          <p:nvPr/>
        </p:nvSpPr>
        <p:spPr>
          <a:xfrm>
            <a:off x="4133088" y="2702052"/>
            <a:ext cx="829818" cy="109728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6" name="copy-l2"/>
          <p:cNvSpPr/>
          <p:nvPr/>
        </p:nvSpPr>
        <p:spPr>
          <a:xfrm>
            <a:off x="4133088" y="2903220"/>
            <a:ext cx="1051103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copy-l3"/>
          <p:cNvSpPr/>
          <p:nvPr/>
        </p:nvSpPr>
        <p:spPr>
          <a:xfrm>
            <a:off x="4133088" y="3104388"/>
            <a:ext cx="829818" cy="64008"/>
          </a:xfrm>
          <a:prstGeom prst="rect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ed-step-0"/>
          <p:cNvSpPr/>
          <p:nvPr/>
        </p:nvSpPr>
        <p:spPr>
          <a:xfrm>
            <a:off x="5532120" y="1828800"/>
            <a:ext cx="1645920" cy="1600200"/>
          </a:xfrm>
          <a:prstGeom prst="roundRect">
            <a:avLst>
              <a:gd name="adj" fmla="val 6857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29" name="ed-step-t-0"/>
          <p:cNvSpPr txBox="1"/>
          <p:nvPr/>
        </p:nvSpPr>
        <p:spPr>
          <a:xfrm>
            <a:off x="5605272" y="1828800"/>
            <a:ext cx="1499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</a:rPr>
              <a:t>내용 수정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</a:rPr>
              <a:t>목표 · 안내 · 힌트</a:t>
            </a:r>
            <a:endParaRPr lang="en-US" sz="1500" dirty="0"/>
          </a:p>
        </p:txBody>
      </p:sp>
      <p:sp>
        <p:nvSpPr>
          <p:cNvPr id="30" name="ed-arr-0"/>
          <p:cNvSpPr/>
          <p:nvPr/>
        </p:nvSpPr>
        <p:spPr>
          <a:xfrm>
            <a:off x="7269480" y="2450592"/>
            <a:ext cx="256032" cy="365760"/>
          </a:xfrm>
          <a:prstGeom prst="rightArrow">
            <a:avLst/>
          </a:prstGeom>
          <a:solidFill>
            <a:srgbClr val="C9D1DC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31" name="ed-step-1"/>
          <p:cNvSpPr/>
          <p:nvPr/>
        </p:nvSpPr>
        <p:spPr>
          <a:xfrm>
            <a:off x="7607808" y="1828800"/>
            <a:ext cx="1645920" cy="1600200"/>
          </a:xfrm>
          <a:prstGeom prst="roundRect">
            <a:avLst>
              <a:gd name="adj" fmla="val 6857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32" name="ed-step-t-1"/>
          <p:cNvSpPr txBox="1"/>
          <p:nvPr/>
        </p:nvSpPr>
        <p:spPr>
          <a:xfrm>
            <a:off x="7680960" y="1828800"/>
            <a:ext cx="1499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</a:rPr>
              <a:t>정답 수정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</a:rPr>
              <a:t>교사가 직접 작성</a:t>
            </a:r>
            <a:endParaRPr lang="en-US" sz="1500" dirty="0"/>
          </a:p>
        </p:txBody>
      </p:sp>
      <p:sp>
        <p:nvSpPr>
          <p:cNvPr id="33" name="ed-arr-1"/>
          <p:cNvSpPr/>
          <p:nvPr/>
        </p:nvSpPr>
        <p:spPr>
          <a:xfrm>
            <a:off x="9345168" y="2450592"/>
            <a:ext cx="256032" cy="365760"/>
          </a:xfrm>
          <a:prstGeom prst="rightArrow">
            <a:avLst/>
          </a:prstGeom>
          <a:solidFill>
            <a:srgbClr val="C9D1DC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34" name="ed-step-2"/>
          <p:cNvSpPr/>
          <p:nvPr/>
        </p:nvSpPr>
        <p:spPr>
          <a:xfrm>
            <a:off x="9683496" y="1828800"/>
            <a:ext cx="1645920" cy="1600200"/>
          </a:xfrm>
          <a:prstGeom prst="roundRect">
            <a:avLst>
              <a:gd name="adj" fmla="val 6857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35" name="ed-step-t-2"/>
          <p:cNvSpPr txBox="1"/>
          <p:nvPr/>
        </p:nvSpPr>
        <p:spPr>
          <a:xfrm>
            <a:off x="9756648" y="1828800"/>
            <a:ext cx="14996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A44"/>
                </a:solidFill>
              </a:rPr>
              <a:t>내 자료에 저장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</a:rPr>
              <a:t>공유 선택 · 바로 배포</a:t>
            </a:r>
            <a:endParaRPr lang="en-US" sz="1500" dirty="0"/>
          </a:p>
        </p:txBody>
      </p:sp>
      <p:sp>
        <p:nvSpPr>
          <p:cNvPr id="36" name="can-box"/>
          <p:cNvSpPr/>
          <p:nvPr/>
        </p:nvSpPr>
        <p:spPr>
          <a:xfrm>
            <a:off x="548640" y="42519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37" name="label"/>
          <p:cNvSpPr txBox="1"/>
          <p:nvPr/>
        </p:nvSpPr>
        <p:spPr>
          <a:xfrm>
            <a:off x="77724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고칠 수 있는 것</a:t>
            </a:r>
            <a:endParaRPr lang="en-US" sz="1600" dirty="0"/>
          </a:p>
        </p:txBody>
      </p:sp>
      <p:sp>
        <p:nvSpPr>
          <p:cNvPr id="38" name="can-list"/>
          <p:cNvSpPr txBox="1"/>
          <p:nvPr/>
        </p:nvSpPr>
        <p:spPr>
          <a:xfrm>
            <a:off x="777240" y="4892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학습목표 · 단계 안내 문구 · 힌트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선택 칸 켜고 끄기 (확인 · 도전 칸)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활동지 본문(문항 · 사례)은 원본 그대로</a:t>
            </a:r>
            <a:endParaRPr lang="en-US" sz="1500" dirty="0"/>
          </a:p>
        </p:txBody>
      </p:sp>
      <p:sp>
        <p:nvSpPr>
          <p:cNvPr id="39" name="guard-box"/>
          <p:cNvSpPr/>
          <p:nvPr/>
        </p:nvSpPr>
        <p:spPr>
          <a:xfrm>
            <a:off x="6245352" y="42519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40" name="label"/>
          <p:cNvSpPr txBox="1"/>
          <p:nvPr/>
        </p:nvSpPr>
        <p:spPr>
          <a:xfrm>
            <a:off x="6473952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안전장치</a:t>
            </a:r>
            <a:endParaRPr lang="en-US" sz="1600" dirty="0"/>
          </a:p>
        </p:txBody>
      </p:sp>
      <p:sp>
        <p:nvSpPr>
          <p:cNvPr id="41" name="guard-list"/>
          <p:cNvSpPr txBox="1"/>
          <p:nvPr/>
        </p:nvSpPr>
        <p:spPr>
          <a:xfrm>
            <a:off x="6473952" y="4892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원본은 바뀌지 않음 · 다른 교사도 그대로 사용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내용을 바꾼 칸은 정답 칸이 함께 열림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바꾸고: 직접 만들기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4840941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8 / 17</a:t>
            </a:r>
            <a:endParaRPr lang="en-US" sz="1100" dirty="0"/>
          </a:p>
        </p:txBody>
      </p:sp>
      <p:sp>
        <p:nvSpPr>
          <p:cNvPr id="6" name="mk-step-0"/>
          <p:cNvSpPr/>
          <p:nvPr/>
        </p:nvSpPr>
        <p:spPr>
          <a:xfrm>
            <a:off x="548640" y="1325880"/>
            <a:ext cx="2907792" cy="548640"/>
          </a:xfrm>
          <a:prstGeom prst="homePlate">
            <a:avLst/>
          </a:prstGeom>
          <a:solidFill>
            <a:srgbClr val="C9DA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mk-step-t-0"/>
          <p:cNvSpPr txBox="1"/>
          <p:nvPr/>
        </p:nvSpPr>
        <p:spPr>
          <a:xfrm>
            <a:off x="64008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① 유형 고르기</a:t>
            </a:r>
            <a:endParaRPr lang="en-US" sz="1400" dirty="0"/>
          </a:p>
        </p:txBody>
      </p:sp>
      <p:sp>
        <p:nvSpPr>
          <p:cNvPr id="8" name="mk-step-1"/>
          <p:cNvSpPr/>
          <p:nvPr/>
        </p:nvSpPr>
        <p:spPr>
          <a:xfrm>
            <a:off x="3273552" y="1325880"/>
            <a:ext cx="2907792" cy="548640"/>
          </a:xfrm>
          <a:prstGeom prst="chevron">
            <a:avLst/>
          </a:prstGeom>
          <a:solidFill>
            <a:srgbClr val="D3E7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mk-step-t-1"/>
          <p:cNvSpPr txBox="1"/>
          <p:nvPr/>
        </p:nvSpPr>
        <p:spPr>
          <a:xfrm>
            <a:off x="3547872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② 채우기</a:t>
            </a:r>
            <a:endParaRPr lang="en-US" sz="1400" dirty="0"/>
          </a:p>
        </p:txBody>
      </p:sp>
      <p:sp>
        <p:nvSpPr>
          <p:cNvPr id="10" name="mk-step-2"/>
          <p:cNvSpPr/>
          <p:nvPr/>
        </p:nvSpPr>
        <p:spPr>
          <a:xfrm>
            <a:off x="5998464" y="1325880"/>
            <a:ext cx="2907792" cy="548640"/>
          </a:xfrm>
          <a:prstGeom prst="chevron">
            <a:avLst/>
          </a:prstGeom>
          <a:solidFill>
            <a:srgbClr val="F1E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mk-step-t-2"/>
          <p:cNvSpPr txBox="1"/>
          <p:nvPr/>
        </p:nvSpPr>
        <p:spPr>
          <a:xfrm>
            <a:off x="6272784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③ 정답 · 힌트 작성</a:t>
            </a:r>
            <a:endParaRPr lang="en-US" sz="1400" dirty="0"/>
          </a:p>
        </p:txBody>
      </p:sp>
      <p:sp>
        <p:nvSpPr>
          <p:cNvPr id="12" name="mk-step-3"/>
          <p:cNvSpPr/>
          <p:nvPr/>
        </p:nvSpPr>
        <p:spPr>
          <a:xfrm>
            <a:off x="8723376" y="1325880"/>
            <a:ext cx="2907792" cy="548640"/>
          </a:xfrm>
          <a:prstGeom prst="chevron">
            <a:avLst/>
          </a:prstGeom>
          <a:solidFill>
            <a:srgbClr val="EBC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k-step-t-3"/>
          <p:cNvSpPr txBox="1"/>
          <p:nvPr/>
        </p:nvSpPr>
        <p:spPr>
          <a:xfrm>
            <a:off x="8997696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④ 미리보기 · 저장</a:t>
            </a:r>
            <a:endParaRPr lang="en-US" sz="1400" dirty="0"/>
          </a:p>
        </p:txBody>
      </p:sp>
      <p:sp>
        <p:nvSpPr>
          <p:cNvPr id="14" name="tpl-cls"/>
          <p:cNvSpPr/>
          <p:nvPr/>
        </p:nvSpPr>
        <p:spPr>
          <a:xfrm>
            <a:off x="548640" y="2395728"/>
            <a:ext cx="1490472" cy="18288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5" name="tpl-cls-th"/>
          <p:cNvSpPr/>
          <p:nvPr/>
        </p:nvSpPr>
        <p:spPr>
          <a:xfrm>
            <a:off x="640080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6" name="tpl-cls-0"/>
          <p:cNvSpPr/>
          <p:nvPr/>
        </p:nvSpPr>
        <p:spPr>
          <a:xfrm>
            <a:off x="873252" y="2848356"/>
            <a:ext cx="146304" cy="146304"/>
          </a:xfrm>
          <a:prstGeom prst="ellipse">
            <a:avLst/>
          </a:prstGeom>
          <a:solidFill>
            <a:srgbClr val="E07A7A"/>
          </a:solidFill>
          <a:ln w="12700">
            <a:solidFill>
              <a:srgbClr val="E07A7A"/>
            </a:solidFill>
            <a:prstDash val="solid"/>
          </a:ln>
        </p:spPr>
      </p:sp>
      <p:sp>
        <p:nvSpPr>
          <p:cNvPr id="17" name="tpl-cls-1"/>
          <p:cNvSpPr/>
          <p:nvPr/>
        </p:nvSpPr>
        <p:spPr>
          <a:xfrm>
            <a:off x="1056132" y="2848356"/>
            <a:ext cx="146304" cy="146304"/>
          </a:xfrm>
          <a:prstGeom prst="ellipse">
            <a:avLst/>
          </a:prstGeom>
          <a:solidFill>
            <a:srgbClr val="E07A7A"/>
          </a:solidFill>
          <a:ln w="12700">
            <a:solidFill>
              <a:srgbClr val="E07A7A"/>
            </a:solidFill>
            <a:prstDash val="solid"/>
          </a:ln>
        </p:spPr>
      </p:sp>
      <p:sp>
        <p:nvSpPr>
          <p:cNvPr id="18" name="tpl-cls-2"/>
          <p:cNvSpPr/>
          <p:nvPr/>
        </p:nvSpPr>
        <p:spPr>
          <a:xfrm>
            <a:off x="1330452" y="2848356"/>
            <a:ext cx="146304" cy="146304"/>
          </a:xfrm>
          <a:prstGeom prst="triangle">
            <a:avLst/>
          </a:prstGeom>
          <a:solidFill>
            <a:srgbClr val="6BAA75"/>
          </a:solidFill>
          <a:ln w="12700">
            <a:solidFill>
              <a:srgbClr val="6BAA75"/>
            </a:solidFill>
            <a:prstDash val="solid"/>
          </a:ln>
        </p:spPr>
      </p:sp>
      <p:sp>
        <p:nvSpPr>
          <p:cNvPr id="19" name="tpl-cls-3"/>
          <p:cNvSpPr/>
          <p:nvPr/>
        </p:nvSpPr>
        <p:spPr>
          <a:xfrm>
            <a:off x="1513332" y="2848356"/>
            <a:ext cx="146304" cy="146304"/>
          </a:xfrm>
          <a:prstGeom prst="triangle">
            <a:avLst/>
          </a:prstGeom>
          <a:solidFill>
            <a:srgbClr val="6BAA75"/>
          </a:solidFill>
          <a:ln w="12700">
            <a:solidFill>
              <a:srgbClr val="6BAA75"/>
            </a:solidFill>
            <a:prstDash val="solid"/>
          </a:ln>
        </p:spPr>
      </p:sp>
      <p:sp>
        <p:nvSpPr>
          <p:cNvPr id="20" name="tpl-cls-name"/>
          <p:cNvSpPr txBox="1"/>
          <p:nvPr/>
        </p:nvSpPr>
        <p:spPr>
          <a:xfrm>
            <a:off x="548640" y="34472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분류하기</a:t>
            </a:r>
            <a:endParaRPr lang="en-US" sz="1200" dirty="0"/>
          </a:p>
        </p:txBody>
      </p:sp>
      <p:sp>
        <p:nvSpPr>
          <p:cNvPr id="21" name="tpl-cls-pr"/>
          <p:cNvSpPr/>
          <p:nvPr/>
        </p:nvSpPr>
        <p:spPr>
          <a:xfrm>
            <a:off x="731520" y="3840480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F5F0"/>
          </a:solidFill>
          <a:ln w="12700">
            <a:solidFill>
              <a:srgbClr val="EDF5F0"/>
            </a:solidFill>
            <a:prstDash val="solid"/>
          </a:ln>
        </p:spPr>
      </p:sp>
      <p:sp>
        <p:nvSpPr>
          <p:cNvPr id="22" name="tpl-cls-prt"/>
          <p:cNvSpPr txBox="1"/>
          <p:nvPr/>
        </p:nvSpPr>
        <p:spPr>
          <a:xfrm>
            <a:off x="731520" y="384048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종이 · 화면</a:t>
            </a:r>
            <a:endParaRPr lang="en-US" sz="1000" dirty="0"/>
          </a:p>
        </p:txBody>
      </p:sp>
      <p:sp>
        <p:nvSpPr>
          <p:cNvPr id="23" name="tpl-ord"/>
          <p:cNvSpPr/>
          <p:nvPr/>
        </p:nvSpPr>
        <p:spPr>
          <a:xfrm>
            <a:off x="2148840" y="2395728"/>
            <a:ext cx="1490472" cy="18288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4" name="tpl-ord-th"/>
          <p:cNvSpPr/>
          <p:nvPr/>
        </p:nvSpPr>
        <p:spPr>
          <a:xfrm>
            <a:off x="2240280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25" name="tpl-ord-0"/>
          <p:cNvSpPr/>
          <p:nvPr/>
        </p:nvSpPr>
        <p:spPr>
          <a:xfrm>
            <a:off x="2473452" y="2802636"/>
            <a:ext cx="182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A94A6"/>
            </a:solidFill>
            <a:prstDash val="solid"/>
          </a:ln>
        </p:spPr>
      </p:sp>
      <p:sp>
        <p:nvSpPr>
          <p:cNvPr id="26" name="tpl-ord-t0"/>
          <p:cNvSpPr txBox="1"/>
          <p:nvPr/>
        </p:nvSpPr>
        <p:spPr>
          <a:xfrm>
            <a:off x="2473452" y="280263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7</a:t>
            </a:r>
            <a:endParaRPr lang="en-US" sz="900" dirty="0"/>
          </a:p>
        </p:txBody>
      </p:sp>
      <p:sp>
        <p:nvSpPr>
          <p:cNvPr id="27" name="tpl-ord-1"/>
          <p:cNvSpPr/>
          <p:nvPr/>
        </p:nvSpPr>
        <p:spPr>
          <a:xfrm>
            <a:off x="2692908" y="2802636"/>
            <a:ext cx="182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A94A6"/>
            </a:solidFill>
            <a:prstDash val="solid"/>
          </a:ln>
        </p:spPr>
      </p:sp>
      <p:sp>
        <p:nvSpPr>
          <p:cNvPr id="28" name="tpl-ord-t1"/>
          <p:cNvSpPr txBox="1"/>
          <p:nvPr/>
        </p:nvSpPr>
        <p:spPr>
          <a:xfrm>
            <a:off x="2692908" y="280263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pl-ord-2"/>
          <p:cNvSpPr/>
          <p:nvPr/>
        </p:nvSpPr>
        <p:spPr>
          <a:xfrm>
            <a:off x="2912364" y="2802636"/>
            <a:ext cx="182880" cy="237744"/>
          </a:xfrm>
          <a:prstGeom prst="rect">
            <a:avLst/>
          </a:prstGeom>
          <a:solidFill>
            <a:srgbClr val="F2C230"/>
          </a:solidFill>
          <a:ln w="6350">
            <a:solidFill>
              <a:srgbClr val="8A94A6"/>
            </a:solidFill>
            <a:prstDash val="solid"/>
          </a:ln>
        </p:spPr>
      </p:sp>
      <p:sp>
        <p:nvSpPr>
          <p:cNvPr id="30" name="tpl-ord-t2"/>
          <p:cNvSpPr txBox="1"/>
          <p:nvPr/>
        </p:nvSpPr>
        <p:spPr>
          <a:xfrm>
            <a:off x="2912364" y="280263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1</a:t>
            </a:r>
            <a:endParaRPr lang="en-US" sz="900" dirty="0"/>
          </a:p>
        </p:txBody>
      </p:sp>
      <p:sp>
        <p:nvSpPr>
          <p:cNvPr id="31" name="tpl-ord-3"/>
          <p:cNvSpPr/>
          <p:nvPr/>
        </p:nvSpPr>
        <p:spPr>
          <a:xfrm>
            <a:off x="3131820" y="2802636"/>
            <a:ext cx="182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A94A6"/>
            </a:solidFill>
            <a:prstDash val="solid"/>
          </a:ln>
        </p:spPr>
      </p:sp>
      <p:sp>
        <p:nvSpPr>
          <p:cNvPr id="32" name="tpl-ord-t3"/>
          <p:cNvSpPr txBox="1"/>
          <p:nvPr/>
        </p:nvSpPr>
        <p:spPr>
          <a:xfrm>
            <a:off x="3131820" y="280263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5</a:t>
            </a:r>
            <a:endParaRPr lang="en-US" sz="900" dirty="0"/>
          </a:p>
        </p:txBody>
      </p:sp>
      <p:sp>
        <p:nvSpPr>
          <p:cNvPr id="33" name="tpl-ord-name"/>
          <p:cNvSpPr txBox="1"/>
          <p:nvPr/>
        </p:nvSpPr>
        <p:spPr>
          <a:xfrm>
            <a:off x="2148840" y="34472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순서 정하기</a:t>
            </a:r>
            <a:endParaRPr lang="en-US" sz="1200" dirty="0"/>
          </a:p>
        </p:txBody>
      </p:sp>
      <p:sp>
        <p:nvSpPr>
          <p:cNvPr id="34" name="tpl-ord-pr"/>
          <p:cNvSpPr/>
          <p:nvPr/>
        </p:nvSpPr>
        <p:spPr>
          <a:xfrm>
            <a:off x="2331720" y="3840480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F5F0"/>
          </a:solidFill>
          <a:ln w="12700">
            <a:solidFill>
              <a:srgbClr val="EDF5F0"/>
            </a:solidFill>
            <a:prstDash val="solid"/>
          </a:ln>
        </p:spPr>
      </p:sp>
      <p:sp>
        <p:nvSpPr>
          <p:cNvPr id="35" name="tpl-ord-prt"/>
          <p:cNvSpPr txBox="1"/>
          <p:nvPr/>
        </p:nvSpPr>
        <p:spPr>
          <a:xfrm>
            <a:off x="2331720" y="384048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종이 · 화면</a:t>
            </a:r>
            <a:endParaRPr lang="en-US" sz="1000" dirty="0"/>
          </a:p>
        </p:txBody>
      </p:sp>
      <p:sp>
        <p:nvSpPr>
          <p:cNvPr id="36" name="tpl-fix"/>
          <p:cNvSpPr/>
          <p:nvPr/>
        </p:nvSpPr>
        <p:spPr>
          <a:xfrm>
            <a:off x="3749040" y="2395728"/>
            <a:ext cx="1490472" cy="18288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7" name="tpl-fix-th"/>
          <p:cNvSpPr/>
          <p:nvPr/>
        </p:nvSpPr>
        <p:spPr>
          <a:xfrm>
            <a:off x="3840480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F8DCD6"/>
          </a:solidFill>
          <a:ln w="12700">
            <a:solidFill>
              <a:srgbClr val="F8DCD6"/>
            </a:solidFill>
            <a:prstDash val="solid"/>
          </a:ln>
        </p:spPr>
      </p:sp>
      <p:sp>
        <p:nvSpPr>
          <p:cNvPr id="38" name="tpl-fix-0"/>
          <p:cNvSpPr/>
          <p:nvPr/>
        </p:nvSpPr>
        <p:spPr>
          <a:xfrm>
            <a:off x="4128516" y="2738628"/>
            <a:ext cx="640080" cy="54864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9" name="tpl-fix-1"/>
          <p:cNvSpPr/>
          <p:nvPr/>
        </p:nvSpPr>
        <p:spPr>
          <a:xfrm>
            <a:off x="4128516" y="2875788"/>
            <a:ext cx="457200" cy="54864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0" name="tpl-fix-2"/>
          <p:cNvSpPr/>
          <p:nvPr/>
        </p:nvSpPr>
        <p:spPr>
          <a:xfrm>
            <a:off x="4128516" y="3012948"/>
            <a:ext cx="640080" cy="54864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1" name="tpl-fix-dot"/>
          <p:cNvSpPr/>
          <p:nvPr/>
        </p:nvSpPr>
        <p:spPr>
          <a:xfrm>
            <a:off x="4750308" y="2665476"/>
            <a:ext cx="164592" cy="16459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2" name="tpl-fix-name"/>
          <p:cNvSpPr txBox="1"/>
          <p:nvPr/>
        </p:nvSpPr>
        <p:spPr>
          <a:xfrm>
            <a:off x="3749040" y="34472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오류 고치기</a:t>
            </a:r>
            <a:endParaRPr lang="en-US" sz="1200" dirty="0"/>
          </a:p>
        </p:txBody>
      </p:sp>
      <p:sp>
        <p:nvSpPr>
          <p:cNvPr id="43" name="tpl-fix-pr"/>
          <p:cNvSpPr/>
          <p:nvPr/>
        </p:nvSpPr>
        <p:spPr>
          <a:xfrm>
            <a:off x="3931920" y="3840480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F5F0"/>
          </a:solidFill>
          <a:ln w="12700">
            <a:solidFill>
              <a:srgbClr val="EDF5F0"/>
            </a:solidFill>
            <a:prstDash val="solid"/>
          </a:ln>
        </p:spPr>
      </p:sp>
      <p:sp>
        <p:nvSpPr>
          <p:cNvPr id="44" name="tpl-fix-prt"/>
          <p:cNvSpPr txBox="1"/>
          <p:nvPr/>
        </p:nvSpPr>
        <p:spPr>
          <a:xfrm>
            <a:off x="3931920" y="384048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종이 · 화면</a:t>
            </a:r>
            <a:endParaRPr lang="en-US" sz="1000" dirty="0"/>
          </a:p>
        </p:txBody>
      </p:sp>
      <p:sp>
        <p:nvSpPr>
          <p:cNvPr id="45" name="tpl-judge"/>
          <p:cNvSpPr/>
          <p:nvPr/>
        </p:nvSpPr>
        <p:spPr>
          <a:xfrm>
            <a:off x="5349240" y="2395728"/>
            <a:ext cx="1490472" cy="18288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25400">
            <a:solidFill>
              <a:srgbClr val="D9A21B"/>
            </a:solidFill>
            <a:prstDash val="solid"/>
          </a:ln>
        </p:spPr>
      </p:sp>
      <p:sp>
        <p:nvSpPr>
          <p:cNvPr id="46" name="tpl-judge-th"/>
          <p:cNvSpPr/>
          <p:nvPr/>
        </p:nvSpPr>
        <p:spPr>
          <a:xfrm>
            <a:off x="5440680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47" name="tpl-j-0"/>
          <p:cNvSpPr/>
          <p:nvPr/>
        </p:nvSpPr>
        <p:spPr>
          <a:xfrm>
            <a:off x="5747004" y="2939796"/>
            <a:ext cx="100584" cy="164592"/>
          </a:xfrm>
          <a:prstGeom prst="rect">
            <a:avLst/>
          </a:prstGeom>
          <a:solidFill>
            <a:srgbClr val="5B8F6A"/>
          </a:solidFill>
          <a:ln w="12700">
            <a:solidFill>
              <a:srgbClr val="5B8F6A"/>
            </a:solidFill>
            <a:prstDash val="solid"/>
          </a:ln>
        </p:spPr>
      </p:sp>
      <p:sp>
        <p:nvSpPr>
          <p:cNvPr id="48" name="tpl-j-1"/>
          <p:cNvSpPr/>
          <p:nvPr/>
        </p:nvSpPr>
        <p:spPr>
          <a:xfrm>
            <a:off x="5884164" y="2830068"/>
            <a:ext cx="100584" cy="274320"/>
          </a:xfrm>
          <a:prstGeom prst="rect">
            <a:avLst/>
          </a:prstGeom>
          <a:solidFill>
            <a:srgbClr val="5B8F6A"/>
          </a:solidFill>
          <a:ln w="12700">
            <a:solidFill>
              <a:srgbClr val="5B8F6A"/>
            </a:solidFill>
            <a:prstDash val="solid"/>
          </a:ln>
        </p:spPr>
      </p:sp>
      <p:sp>
        <p:nvSpPr>
          <p:cNvPr id="49" name="tpl-j-2"/>
          <p:cNvSpPr/>
          <p:nvPr/>
        </p:nvSpPr>
        <p:spPr>
          <a:xfrm>
            <a:off x="6021324" y="2720340"/>
            <a:ext cx="100584" cy="384048"/>
          </a:xfrm>
          <a:prstGeom prst="rect">
            <a:avLst/>
          </a:prstGeom>
          <a:solidFill>
            <a:srgbClr val="5B8F6A"/>
          </a:solidFill>
          <a:ln w="12700">
            <a:solidFill>
              <a:srgbClr val="5B8F6A"/>
            </a:solidFill>
            <a:prstDash val="solid"/>
          </a:ln>
        </p:spPr>
      </p:sp>
      <p:sp>
        <p:nvSpPr>
          <p:cNvPr id="50" name="tpl-j-check"/>
          <p:cNvSpPr txBox="1"/>
          <p:nvPr/>
        </p:nvSpPr>
        <p:spPr>
          <a:xfrm>
            <a:off x="6185916" y="27569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E45"/>
                </a:solidFill>
              </a:rPr>
              <a:t>✓</a:t>
            </a:r>
            <a:endParaRPr lang="en-US" sz="1600" dirty="0"/>
          </a:p>
        </p:txBody>
      </p:sp>
      <p:sp>
        <p:nvSpPr>
          <p:cNvPr id="51" name="tpl-judge-name"/>
          <p:cNvSpPr txBox="1"/>
          <p:nvPr/>
        </p:nvSpPr>
        <p:spPr>
          <a:xfrm>
            <a:off x="5349240" y="34472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근거로 판단</a:t>
            </a:r>
            <a:endParaRPr lang="en-US" sz="1200" dirty="0"/>
          </a:p>
        </p:txBody>
      </p:sp>
      <p:sp>
        <p:nvSpPr>
          <p:cNvPr id="52" name="tpl-judge-pr"/>
          <p:cNvSpPr/>
          <p:nvPr/>
        </p:nvSpPr>
        <p:spPr>
          <a:xfrm>
            <a:off x="5532120" y="3840480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F5F0"/>
          </a:solidFill>
          <a:ln w="12700">
            <a:solidFill>
              <a:srgbClr val="EDF5F0"/>
            </a:solidFill>
            <a:prstDash val="solid"/>
          </a:ln>
        </p:spPr>
      </p:sp>
      <p:sp>
        <p:nvSpPr>
          <p:cNvPr id="53" name="tpl-judge-prt"/>
          <p:cNvSpPr txBox="1"/>
          <p:nvPr/>
        </p:nvSpPr>
        <p:spPr>
          <a:xfrm>
            <a:off x="5532120" y="384048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종이 · 화면</a:t>
            </a:r>
            <a:endParaRPr lang="en-US" sz="1000" dirty="0"/>
          </a:p>
        </p:txBody>
      </p:sp>
      <p:sp>
        <p:nvSpPr>
          <p:cNvPr id="54" name="tpl-rec"/>
          <p:cNvSpPr/>
          <p:nvPr/>
        </p:nvSpPr>
        <p:spPr>
          <a:xfrm>
            <a:off x="6272784" y="2267712"/>
            <a:ext cx="530352" cy="237744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5" name="tpl-rec-t"/>
          <p:cNvSpPr txBox="1"/>
          <p:nvPr/>
        </p:nvSpPr>
        <p:spPr>
          <a:xfrm>
            <a:off x="6272784" y="226771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추천</a:t>
            </a:r>
            <a:endParaRPr lang="en-US" sz="1000" dirty="0"/>
          </a:p>
        </p:txBody>
      </p:sp>
      <p:sp>
        <p:nvSpPr>
          <p:cNvPr id="56" name="tpl-exp"/>
          <p:cNvSpPr/>
          <p:nvPr/>
        </p:nvSpPr>
        <p:spPr>
          <a:xfrm>
            <a:off x="6949440" y="2395728"/>
            <a:ext cx="1490472" cy="18288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7" name="tpl-exp-th"/>
          <p:cNvSpPr/>
          <p:nvPr/>
        </p:nvSpPr>
        <p:spPr>
          <a:xfrm>
            <a:off x="7040880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58" name="tpl-exp-f"/>
          <p:cNvSpPr/>
          <p:nvPr/>
        </p:nvSpPr>
        <p:spPr>
          <a:xfrm>
            <a:off x="7511796" y="2720340"/>
            <a:ext cx="365760" cy="384048"/>
          </a:xfrm>
          <a:prstGeom prst="triangle">
            <a:avLst/>
          </a:prstGeom>
          <a:solidFill>
            <a:srgbClr val="FFFFFF"/>
          </a:solidFill>
          <a:ln w="15875">
            <a:solidFill>
              <a:srgbClr val="6A5ACD"/>
            </a:solidFill>
            <a:prstDash val="solid"/>
          </a:ln>
        </p:spPr>
      </p:sp>
      <p:sp>
        <p:nvSpPr>
          <p:cNvPr id="59" name="tpl-exp-d"/>
          <p:cNvSpPr/>
          <p:nvPr/>
        </p:nvSpPr>
        <p:spPr>
          <a:xfrm>
            <a:off x="7630668" y="2948940"/>
            <a:ext cx="91440" cy="91440"/>
          </a:xfrm>
          <a:prstGeom prst="ellipse">
            <a:avLst/>
          </a:prstGeom>
          <a:solidFill>
            <a:srgbClr val="6A5ACD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60" name="tpl-exp-name"/>
          <p:cNvSpPr txBox="1"/>
          <p:nvPr/>
        </p:nvSpPr>
        <p:spPr>
          <a:xfrm>
            <a:off x="6949440" y="34472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탐구 · 실험</a:t>
            </a:r>
            <a:endParaRPr lang="en-US" sz="1200" dirty="0"/>
          </a:p>
        </p:txBody>
      </p:sp>
      <p:sp>
        <p:nvSpPr>
          <p:cNvPr id="61" name="tpl-exp-pr"/>
          <p:cNvSpPr/>
          <p:nvPr/>
        </p:nvSpPr>
        <p:spPr>
          <a:xfrm>
            <a:off x="7132320" y="3840480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F5F0"/>
          </a:solidFill>
          <a:ln w="12700">
            <a:solidFill>
              <a:srgbClr val="EDF5F0"/>
            </a:solidFill>
            <a:prstDash val="solid"/>
          </a:ln>
        </p:spPr>
      </p:sp>
      <p:sp>
        <p:nvSpPr>
          <p:cNvPr id="62" name="tpl-exp-prt"/>
          <p:cNvSpPr txBox="1"/>
          <p:nvPr/>
        </p:nvSpPr>
        <p:spPr>
          <a:xfrm>
            <a:off x="7132320" y="384048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종이 · 화면</a:t>
            </a:r>
            <a:endParaRPr lang="en-US" sz="1000" dirty="0"/>
          </a:p>
        </p:txBody>
      </p:sp>
      <p:sp>
        <p:nvSpPr>
          <p:cNvPr id="63" name="tpl-proj"/>
          <p:cNvSpPr/>
          <p:nvPr/>
        </p:nvSpPr>
        <p:spPr>
          <a:xfrm>
            <a:off x="8549640" y="2395728"/>
            <a:ext cx="1490472" cy="18288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4" name="tpl-proj-th"/>
          <p:cNvSpPr/>
          <p:nvPr/>
        </p:nvSpPr>
        <p:spPr>
          <a:xfrm>
            <a:off x="8641080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65" name="tpl-p-0"/>
          <p:cNvSpPr/>
          <p:nvPr/>
        </p:nvSpPr>
        <p:spPr>
          <a:xfrm>
            <a:off x="9020556" y="2692908"/>
            <a:ext cx="3657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B6B85"/>
            </a:solidFill>
            <a:prstDash val="solid"/>
          </a:ln>
        </p:spPr>
      </p:sp>
      <p:sp>
        <p:nvSpPr>
          <p:cNvPr id="66" name="tpl-p-1"/>
          <p:cNvSpPr/>
          <p:nvPr/>
        </p:nvSpPr>
        <p:spPr>
          <a:xfrm>
            <a:off x="9111996" y="2784348"/>
            <a:ext cx="3657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B6B85"/>
            </a:solidFill>
            <a:prstDash val="solid"/>
          </a:ln>
        </p:spPr>
      </p:sp>
      <p:sp>
        <p:nvSpPr>
          <p:cNvPr id="67" name="tpl-p-2"/>
          <p:cNvSpPr/>
          <p:nvPr/>
        </p:nvSpPr>
        <p:spPr>
          <a:xfrm>
            <a:off x="9203436" y="2875788"/>
            <a:ext cx="3657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B6B85"/>
            </a:solidFill>
            <a:prstDash val="solid"/>
          </a:ln>
        </p:spPr>
      </p:sp>
      <p:sp>
        <p:nvSpPr>
          <p:cNvPr id="68" name="tpl-proj-name"/>
          <p:cNvSpPr txBox="1"/>
          <p:nvPr/>
        </p:nvSpPr>
        <p:spPr>
          <a:xfrm>
            <a:off x="8549640" y="34472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주제 프로젝트</a:t>
            </a:r>
            <a:endParaRPr lang="en-US" sz="1200" dirty="0"/>
          </a:p>
        </p:txBody>
      </p:sp>
      <p:sp>
        <p:nvSpPr>
          <p:cNvPr id="69" name="tpl-proj-pr"/>
          <p:cNvSpPr/>
          <p:nvPr/>
        </p:nvSpPr>
        <p:spPr>
          <a:xfrm>
            <a:off x="8732520" y="3840480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0" name="tpl-proj-prt"/>
          <p:cNvSpPr txBox="1"/>
          <p:nvPr/>
        </p:nvSpPr>
        <p:spPr>
          <a:xfrm>
            <a:off x="8732520" y="384048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화면 전용</a:t>
            </a:r>
            <a:endParaRPr lang="en-US" sz="1000" dirty="0"/>
          </a:p>
        </p:txBody>
      </p:sp>
      <p:sp>
        <p:nvSpPr>
          <p:cNvPr id="71" name="tpl-free"/>
          <p:cNvSpPr/>
          <p:nvPr/>
        </p:nvSpPr>
        <p:spPr>
          <a:xfrm>
            <a:off x="10149840" y="2395728"/>
            <a:ext cx="1490472" cy="18288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dash"/>
          </a:ln>
        </p:spPr>
      </p:sp>
      <p:sp>
        <p:nvSpPr>
          <p:cNvPr id="72" name="tpl-free-th"/>
          <p:cNvSpPr/>
          <p:nvPr/>
        </p:nvSpPr>
        <p:spPr>
          <a:xfrm>
            <a:off x="10241280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73" name="tpl-free-plus"/>
          <p:cNvSpPr txBox="1"/>
          <p:nvPr/>
        </p:nvSpPr>
        <p:spPr>
          <a:xfrm>
            <a:off x="10620756" y="26471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0A8B5"/>
                </a:solidFill>
              </a:rPr>
              <a:t>+</a:t>
            </a:r>
            <a:endParaRPr lang="en-US" sz="2600" dirty="0"/>
          </a:p>
        </p:txBody>
      </p:sp>
      <p:sp>
        <p:nvSpPr>
          <p:cNvPr id="74" name="tpl-free-name"/>
          <p:cNvSpPr txBox="1"/>
          <p:nvPr/>
        </p:nvSpPr>
        <p:spPr>
          <a:xfrm>
            <a:off x="10149840" y="3447288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자유형 (빈 틀)</a:t>
            </a:r>
            <a:endParaRPr lang="en-US" sz="1200" dirty="0"/>
          </a:p>
        </p:txBody>
      </p:sp>
      <p:sp>
        <p:nvSpPr>
          <p:cNvPr id="75" name="tpl-free-pr"/>
          <p:cNvSpPr/>
          <p:nvPr/>
        </p:nvSpPr>
        <p:spPr>
          <a:xfrm>
            <a:off x="10332720" y="3840480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6" name="tpl-free-prt"/>
          <p:cNvSpPr txBox="1"/>
          <p:nvPr/>
        </p:nvSpPr>
        <p:spPr>
          <a:xfrm>
            <a:off x="10332720" y="384048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직접 선택</a:t>
            </a:r>
            <a:endParaRPr lang="en-US" sz="1000" dirty="0"/>
          </a:p>
        </p:txBody>
      </p:sp>
      <p:sp>
        <p:nvSpPr>
          <p:cNvPr id="77" name="tpl-note"/>
          <p:cNvSpPr txBox="1"/>
          <p:nvPr/>
        </p:nvSpPr>
        <p:spPr>
          <a:xfrm>
            <a:off x="548640" y="1938528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</a:rPr>
              <a:t>검색어 “조건문 깜짝 퀴즈”가 넘어오면 맞는 유형에 ‘추천’ 표시</a:t>
            </a:r>
            <a:endParaRPr lang="en-US" sz="1100" dirty="0"/>
          </a:p>
        </p:txBody>
      </p:sp>
      <p:sp>
        <p:nvSpPr>
          <p:cNvPr id="78" name="fill-box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79" name="label"/>
          <p:cNvSpPr txBox="1"/>
          <p:nvPr/>
        </p:nvSpPr>
        <p:spPr>
          <a:xfrm>
            <a:off x="77724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② 채우기 방법</a:t>
            </a:r>
            <a:endParaRPr lang="en-US" sz="1600" dirty="0"/>
          </a:p>
        </p:txBody>
      </p:sp>
      <p:sp>
        <p:nvSpPr>
          <p:cNvPr id="80" name="fill-list"/>
          <p:cNvSpPr txBox="1"/>
          <p:nvPr/>
        </p:nvSpPr>
        <p:spPr>
          <a:xfrm>
            <a:off x="777240" y="5120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칸마다 회색 예시 문장 → 덮어쓰기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AI로 초안 채우기 (2단계) · 교사 확인 전엔 배포 안 됨</a:t>
            </a:r>
            <a:endParaRPr lang="en-US" sz="1500" dirty="0"/>
          </a:p>
        </p:txBody>
      </p:sp>
      <p:sp>
        <p:nvSpPr>
          <p:cNvPr id="81" name="print-box"/>
          <p:cNvSpPr/>
          <p:nvPr/>
        </p:nvSpPr>
        <p:spPr>
          <a:xfrm>
            <a:off x="6245352" y="44805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2" name="label"/>
          <p:cNvSpPr txBox="1"/>
          <p:nvPr/>
        </p:nvSpPr>
        <p:spPr>
          <a:xfrm>
            <a:off x="6473952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인쇄 여부</a:t>
            </a:r>
            <a:endParaRPr lang="en-US" sz="1600" dirty="0"/>
          </a:p>
        </p:txBody>
      </p:sp>
      <p:sp>
        <p:nvSpPr>
          <p:cNvPr id="83" name="print-list"/>
          <p:cNvSpPr txBox="1"/>
          <p:nvPr/>
        </p:nvSpPr>
        <p:spPr>
          <a:xfrm>
            <a:off x="6473952" y="5120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템플릿이 기본값을 정하고, 교사가 바꿀 수 있음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</a:rPr>
              <a:t>화면 전용이면 배포에서 인쇄 버튼을 숨김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사용하고: 배포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5446059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9 / 17</a:t>
            </a:r>
            <a:endParaRPr lang="en-US" sz="11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  <a:gridCol w="32278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</a:rPr>
                        <a:t>설정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</a:rPr>
                        <a:t>선택지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</a:rPr>
                        <a:t>기본값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</a:rPr>
                        <a:t>대상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반 선택 (여러 반 동시 가능)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최근 수업한 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</a:rPr>
                        <a:t>방식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링크 · QR · 수업 코드 / A4 인쇄 + 사진 제출 (종이 · 화면 활동만)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링크 + QR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</a:rPr>
                        <a:t>정답 공개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재제출 끝난 뒤 자동 · 교사가 직접 · 공개 안 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교사가 직접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</a:rPr>
                        <a:t>힌트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2단계 허용 · 1단계만 · 끄기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2단계 허용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</a:rPr>
                        <a:t>재제출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아래 세 가지 중 선택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3"/>
                          </a:solidFill>
                        </a:rPr>
                        <a:t>피드백 후 1번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resub-title"/>
          <p:cNvSpPr txBox="1"/>
          <p:nvPr/>
        </p:nvSpPr>
        <p:spPr>
          <a:xfrm>
            <a:off x="548640" y="3886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재제출 옵션 · 학생이 제출한 뒤 다시 낼 수 있는가</a:t>
            </a:r>
            <a:endParaRPr lang="en-US" sz="1500" dirty="0"/>
          </a:p>
        </p:txBody>
      </p:sp>
      <p:sp>
        <p:nvSpPr>
          <p:cNvPr id="8" name="opt-1"/>
          <p:cNvSpPr/>
          <p:nvPr/>
        </p:nvSpPr>
        <p:spPr>
          <a:xfrm>
            <a:off x="548640" y="43434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9" name="opt-t-1"/>
          <p:cNvSpPr txBox="1"/>
          <p:nvPr/>
        </p:nvSpPr>
        <p:spPr>
          <a:xfrm>
            <a:off x="731520" y="4453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마감 전까지 언제든</a:t>
            </a:r>
            <a:endParaRPr lang="en-US" sz="1400" dirty="0"/>
          </a:p>
        </p:txBody>
      </p:sp>
      <p:sp>
        <p:nvSpPr>
          <p:cNvPr id="10" name="opt-1-c0"/>
          <p:cNvSpPr/>
          <p:nvPr/>
        </p:nvSpPr>
        <p:spPr>
          <a:xfrm>
            <a:off x="731520" y="4910328"/>
            <a:ext cx="856488" cy="384048"/>
          </a:xfrm>
          <a:prstGeom prst="roundRect">
            <a:avLst>
              <a:gd name="adj" fmla="val 23810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1" name="opt-1-c0-t"/>
          <p:cNvSpPr txBox="1"/>
          <p:nvPr/>
        </p:nvSpPr>
        <p:spPr>
          <a:xfrm>
            <a:off x="731520" y="4910328"/>
            <a:ext cx="856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제출</a:t>
            </a:r>
            <a:endParaRPr lang="en-US" sz="1100" dirty="0"/>
          </a:p>
        </p:txBody>
      </p:sp>
      <p:sp>
        <p:nvSpPr>
          <p:cNvPr id="12" name="opt-1-a0"/>
          <p:cNvSpPr/>
          <p:nvPr/>
        </p:nvSpPr>
        <p:spPr>
          <a:xfrm>
            <a:off x="1633728" y="5010912"/>
            <a:ext cx="201168" cy="18288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3" name="opt-1-c1"/>
          <p:cNvSpPr/>
          <p:nvPr/>
        </p:nvSpPr>
        <p:spPr>
          <a:xfrm>
            <a:off x="1880616" y="4910328"/>
            <a:ext cx="856488" cy="384048"/>
          </a:xfrm>
          <a:prstGeom prst="roundRect">
            <a:avLst>
              <a:gd name="adj" fmla="val 23810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14" name="opt-1-c1-t"/>
          <p:cNvSpPr txBox="1"/>
          <p:nvPr/>
        </p:nvSpPr>
        <p:spPr>
          <a:xfrm>
            <a:off x="1880616" y="4910328"/>
            <a:ext cx="856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고치기</a:t>
            </a:r>
            <a:endParaRPr lang="en-US" sz="1100" dirty="0"/>
          </a:p>
        </p:txBody>
      </p:sp>
      <p:sp>
        <p:nvSpPr>
          <p:cNvPr id="15" name="opt-1-a1"/>
          <p:cNvSpPr/>
          <p:nvPr/>
        </p:nvSpPr>
        <p:spPr>
          <a:xfrm>
            <a:off x="2782824" y="5010912"/>
            <a:ext cx="201168" cy="18288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6" name="opt-1-c2"/>
          <p:cNvSpPr/>
          <p:nvPr/>
        </p:nvSpPr>
        <p:spPr>
          <a:xfrm>
            <a:off x="3029712" y="4910328"/>
            <a:ext cx="856488" cy="384048"/>
          </a:xfrm>
          <a:prstGeom prst="roundRect">
            <a:avLst>
              <a:gd name="adj" fmla="val 23810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7" name="opt-1-c2-t"/>
          <p:cNvSpPr txBox="1"/>
          <p:nvPr/>
        </p:nvSpPr>
        <p:spPr>
          <a:xfrm>
            <a:off x="3029712" y="4910328"/>
            <a:ext cx="856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다시 제출</a:t>
            </a:r>
            <a:endParaRPr lang="en-US" sz="1100" dirty="0"/>
          </a:p>
        </p:txBody>
      </p:sp>
      <p:sp>
        <p:nvSpPr>
          <p:cNvPr id="18" name="opt-loop"/>
          <p:cNvSpPr txBox="1"/>
          <p:nvPr/>
        </p:nvSpPr>
        <p:spPr>
          <a:xfrm>
            <a:off x="3566160" y="5276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5"/>
                </a:solidFill>
              </a:rPr>
              <a:t>↺</a:t>
            </a:r>
            <a:endParaRPr lang="en-US" sz="1600" dirty="0"/>
          </a:p>
        </p:txBody>
      </p:sp>
      <p:sp>
        <p:nvSpPr>
          <p:cNvPr id="19" name="opt-cap-1"/>
          <p:cNvSpPr txBox="1"/>
          <p:nvPr/>
        </p:nvSpPr>
        <p:spPr>
          <a:xfrm>
            <a:off x="731520" y="5440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마감할 때까지 몇 번이든 반복</a:t>
            </a:r>
            <a:endParaRPr lang="en-US" sz="1200" dirty="0"/>
          </a:p>
        </p:txBody>
      </p:sp>
      <p:sp>
        <p:nvSpPr>
          <p:cNvPr id="20" name="opt-2"/>
          <p:cNvSpPr/>
          <p:nvPr/>
        </p:nvSpPr>
        <p:spPr>
          <a:xfrm>
            <a:off x="4336999" y="43434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BEA"/>
          </a:solidFill>
          <a:ln w="22225">
            <a:solidFill>
              <a:srgbClr val="D9A21B"/>
            </a:solidFill>
            <a:prstDash val="solid"/>
          </a:ln>
        </p:spPr>
      </p:sp>
      <p:sp>
        <p:nvSpPr>
          <p:cNvPr id="21" name="opt-t-2"/>
          <p:cNvSpPr txBox="1"/>
          <p:nvPr/>
        </p:nvSpPr>
        <p:spPr>
          <a:xfrm>
            <a:off x="4519879" y="4453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피드백 후 1번</a:t>
            </a:r>
            <a:endParaRPr lang="en-US" sz="1400" dirty="0"/>
          </a:p>
        </p:txBody>
      </p:sp>
      <p:sp>
        <p:nvSpPr>
          <p:cNvPr id="22" name="opt-def"/>
          <p:cNvSpPr/>
          <p:nvPr/>
        </p:nvSpPr>
        <p:spPr>
          <a:xfrm>
            <a:off x="7171639" y="448056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3" name="opt-def-t"/>
          <p:cNvSpPr txBox="1"/>
          <p:nvPr/>
        </p:nvSpPr>
        <p:spPr>
          <a:xfrm>
            <a:off x="7171639" y="4480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기본</a:t>
            </a:r>
            <a:endParaRPr lang="en-US" sz="1000" dirty="0"/>
          </a:p>
        </p:txBody>
      </p:sp>
      <p:sp>
        <p:nvSpPr>
          <p:cNvPr id="24" name="opt-2-c0"/>
          <p:cNvSpPr/>
          <p:nvPr/>
        </p:nvSpPr>
        <p:spPr>
          <a:xfrm>
            <a:off x="4519879" y="4910328"/>
            <a:ext cx="856488" cy="384048"/>
          </a:xfrm>
          <a:prstGeom prst="roundRect">
            <a:avLst>
              <a:gd name="adj" fmla="val 23810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25" name="opt-2-c0-t"/>
          <p:cNvSpPr txBox="1"/>
          <p:nvPr/>
        </p:nvSpPr>
        <p:spPr>
          <a:xfrm>
            <a:off x="4519879" y="4910328"/>
            <a:ext cx="856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제출</a:t>
            </a:r>
            <a:endParaRPr lang="en-US" sz="1100" dirty="0"/>
          </a:p>
        </p:txBody>
      </p:sp>
      <p:sp>
        <p:nvSpPr>
          <p:cNvPr id="26" name="opt-2-a0"/>
          <p:cNvSpPr/>
          <p:nvPr/>
        </p:nvSpPr>
        <p:spPr>
          <a:xfrm>
            <a:off x="5422087" y="5010912"/>
            <a:ext cx="201168" cy="18288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27" name="opt-2-c1"/>
          <p:cNvSpPr/>
          <p:nvPr/>
        </p:nvSpPr>
        <p:spPr>
          <a:xfrm>
            <a:off x="5668975" y="4910328"/>
            <a:ext cx="856488" cy="384048"/>
          </a:xfrm>
          <a:prstGeom prst="roundRect">
            <a:avLst>
              <a:gd name="adj" fmla="val 23810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28" name="opt-2-c1-t"/>
          <p:cNvSpPr txBox="1"/>
          <p:nvPr/>
        </p:nvSpPr>
        <p:spPr>
          <a:xfrm>
            <a:off x="5668975" y="4910328"/>
            <a:ext cx="856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피드백</a:t>
            </a:r>
            <a:endParaRPr lang="en-US" sz="1100" dirty="0"/>
          </a:p>
        </p:txBody>
      </p:sp>
      <p:sp>
        <p:nvSpPr>
          <p:cNvPr id="29" name="opt-2-a1"/>
          <p:cNvSpPr/>
          <p:nvPr/>
        </p:nvSpPr>
        <p:spPr>
          <a:xfrm>
            <a:off x="6571183" y="5010912"/>
            <a:ext cx="201168" cy="18288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30" name="opt-2-c2"/>
          <p:cNvSpPr/>
          <p:nvPr/>
        </p:nvSpPr>
        <p:spPr>
          <a:xfrm>
            <a:off x="6818071" y="4910328"/>
            <a:ext cx="856488" cy="384048"/>
          </a:xfrm>
          <a:prstGeom prst="roundRect">
            <a:avLst>
              <a:gd name="adj" fmla="val 23810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31" name="opt-2-c2-t"/>
          <p:cNvSpPr txBox="1"/>
          <p:nvPr/>
        </p:nvSpPr>
        <p:spPr>
          <a:xfrm>
            <a:off x="6818071" y="4910328"/>
            <a:ext cx="856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고쳐서 1번</a:t>
            </a:r>
            <a:endParaRPr lang="en-US" sz="1100" dirty="0"/>
          </a:p>
        </p:txBody>
      </p:sp>
      <p:sp>
        <p:nvSpPr>
          <p:cNvPr id="32" name="opt-cap-2"/>
          <p:cNvSpPr txBox="1"/>
          <p:nvPr/>
        </p:nvSpPr>
        <p:spPr>
          <a:xfrm>
            <a:off x="4519879" y="5440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교사 피드백을 보고 한 번만 다시 냄</a:t>
            </a:r>
            <a:endParaRPr lang="en-US" sz="1200" dirty="0"/>
          </a:p>
        </p:txBody>
      </p:sp>
      <p:sp>
        <p:nvSpPr>
          <p:cNvPr id="33" name="opt-3"/>
          <p:cNvSpPr/>
          <p:nvPr/>
        </p:nvSpPr>
        <p:spPr>
          <a:xfrm>
            <a:off x="8125358" y="43434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34" name="opt-t-3"/>
          <p:cNvSpPr txBox="1"/>
          <p:nvPr/>
        </p:nvSpPr>
        <p:spPr>
          <a:xfrm>
            <a:off x="8308238" y="4453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받지 않음</a:t>
            </a:r>
            <a:endParaRPr lang="en-US" sz="1400" dirty="0"/>
          </a:p>
        </p:txBody>
      </p:sp>
      <p:sp>
        <p:nvSpPr>
          <p:cNvPr id="35" name="opt-3-c0"/>
          <p:cNvSpPr/>
          <p:nvPr/>
        </p:nvSpPr>
        <p:spPr>
          <a:xfrm>
            <a:off x="8308238" y="4910328"/>
            <a:ext cx="1431036" cy="384048"/>
          </a:xfrm>
          <a:prstGeom prst="roundRect">
            <a:avLst>
              <a:gd name="adj" fmla="val 23810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36" name="opt-3-c0-t"/>
          <p:cNvSpPr txBox="1"/>
          <p:nvPr/>
        </p:nvSpPr>
        <p:spPr>
          <a:xfrm>
            <a:off x="8308238" y="4910328"/>
            <a:ext cx="1431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제출</a:t>
            </a:r>
            <a:endParaRPr lang="en-US" sz="1100" dirty="0"/>
          </a:p>
        </p:txBody>
      </p:sp>
      <p:sp>
        <p:nvSpPr>
          <p:cNvPr id="37" name="opt-3-a0"/>
          <p:cNvSpPr/>
          <p:nvPr/>
        </p:nvSpPr>
        <p:spPr>
          <a:xfrm>
            <a:off x="9784994" y="5010912"/>
            <a:ext cx="201168" cy="18288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38" name="opt-3-c1"/>
          <p:cNvSpPr/>
          <p:nvPr/>
        </p:nvSpPr>
        <p:spPr>
          <a:xfrm>
            <a:off x="10031882" y="4910328"/>
            <a:ext cx="1431036" cy="384048"/>
          </a:xfrm>
          <a:prstGeom prst="roundRect">
            <a:avLst>
              <a:gd name="adj" fmla="val 2381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9" name="opt-3-c1-t"/>
          <p:cNvSpPr txBox="1"/>
          <p:nvPr/>
        </p:nvSpPr>
        <p:spPr>
          <a:xfrm>
            <a:off x="10031882" y="4910328"/>
            <a:ext cx="1431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끝</a:t>
            </a:r>
            <a:endParaRPr lang="en-US" sz="1100" dirty="0"/>
          </a:p>
        </p:txBody>
      </p:sp>
      <p:sp>
        <p:nvSpPr>
          <p:cNvPr id="40" name="opt-cap-3"/>
          <p:cNvSpPr txBox="1"/>
          <p:nvPr/>
        </p:nvSpPr>
        <p:spPr>
          <a:xfrm>
            <a:off x="8308238" y="5440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퀴즈처럼 한 번으로 끝나는 활동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사용하고: 수업 중 현황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6051176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10 / 17</a:t>
            </a:r>
            <a:endParaRPr lang="en-US" sz="1100" dirty="0"/>
          </a:p>
        </p:txBody>
      </p:sp>
      <p:sp>
        <p:nvSpPr>
          <p:cNvPr id="6" name="st-frame"/>
          <p:cNvSpPr/>
          <p:nvPr/>
        </p:nvSpPr>
        <p:spPr>
          <a:xfrm>
            <a:off x="548640" y="1325880"/>
            <a:ext cx="11091672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7" name="st-title"/>
          <p:cNvSpPr txBox="1"/>
          <p:nvPr/>
        </p:nvSpPr>
        <p:spPr>
          <a:xfrm>
            <a:off x="77724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제출 현황</a:t>
            </a:r>
            <a:endParaRPr lang="en-US" sz="1800" dirty="0"/>
          </a:p>
        </p:txBody>
      </p:sp>
      <p:sp>
        <p:nvSpPr>
          <p:cNvPr id="8" name="st-sum"/>
          <p:cNvSpPr txBox="1"/>
          <p:nvPr/>
        </p:nvSpPr>
        <p:spPr>
          <a:xfrm>
            <a:off x="8668512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563"/>
                </a:solidFill>
              </a:rPr>
              <a:t>24명 중 15명 제출</a:t>
            </a:r>
            <a:endParaRPr lang="en-US" sz="1300" dirty="0"/>
          </a:p>
        </p:txBody>
      </p:sp>
      <p:sp>
        <p:nvSpPr>
          <p:cNvPr id="9" name="st-bar-0"/>
          <p:cNvSpPr/>
          <p:nvPr/>
        </p:nvSpPr>
        <p:spPr>
          <a:xfrm>
            <a:off x="777240" y="2011680"/>
            <a:ext cx="1329309" cy="201168"/>
          </a:xfrm>
          <a:prstGeom prst="rect">
            <a:avLst/>
          </a:prstGeom>
          <a:solidFill>
            <a:srgbClr val="E4E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t-bar-1"/>
          <p:cNvSpPr/>
          <p:nvPr/>
        </p:nvSpPr>
        <p:spPr>
          <a:xfrm>
            <a:off x="2106549" y="2011680"/>
            <a:ext cx="2658618" cy="201168"/>
          </a:xfrm>
          <a:prstGeom prst="rect">
            <a:avLst/>
          </a:prstGeom>
          <a:solidFill>
            <a:srgbClr val="C9DA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t-bar-2"/>
          <p:cNvSpPr/>
          <p:nvPr/>
        </p:nvSpPr>
        <p:spPr>
          <a:xfrm>
            <a:off x="4765167" y="2011680"/>
            <a:ext cx="6646545" cy="201168"/>
          </a:xfrm>
          <a:prstGeom prst="rect">
            <a:avLst/>
          </a:prstGeom>
          <a:solidFill>
            <a:srgbClr val="D3E7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t-col-0"/>
          <p:cNvSpPr/>
          <p:nvPr/>
        </p:nvSpPr>
        <p:spPr>
          <a:xfrm>
            <a:off x="777240" y="2423160"/>
            <a:ext cx="3453384" cy="3108960"/>
          </a:xfrm>
          <a:prstGeom prst="roundRect">
            <a:avLst>
              <a:gd name="adj" fmla="val 176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t-col-h0"/>
          <p:cNvSpPr/>
          <p:nvPr/>
        </p:nvSpPr>
        <p:spPr>
          <a:xfrm>
            <a:off x="886968" y="2532888"/>
            <a:ext cx="3233928" cy="310896"/>
          </a:xfrm>
          <a:prstGeom prst="roundRect">
            <a:avLst>
              <a:gd name="adj" fmla="val 23529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t-col-ht0"/>
          <p:cNvSpPr txBox="1"/>
          <p:nvPr/>
        </p:nvSpPr>
        <p:spPr>
          <a:xfrm>
            <a:off x="886968" y="2532888"/>
            <a:ext cx="323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미접속 3명</a:t>
            </a:r>
            <a:endParaRPr lang="en-US" sz="1200" dirty="0"/>
          </a:p>
        </p:txBody>
      </p:sp>
      <p:sp>
        <p:nvSpPr>
          <p:cNvPr id="15" name="st-n00"/>
          <p:cNvSpPr/>
          <p:nvPr/>
        </p:nvSpPr>
        <p:spPr>
          <a:xfrm>
            <a:off x="886968" y="295351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6" name="st-nt00"/>
          <p:cNvSpPr txBox="1"/>
          <p:nvPr/>
        </p:nvSpPr>
        <p:spPr>
          <a:xfrm>
            <a:off x="978408" y="29535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김○○</a:t>
            </a:r>
            <a:endParaRPr lang="en-US" sz="1100" dirty="0"/>
          </a:p>
        </p:txBody>
      </p:sp>
      <p:sp>
        <p:nvSpPr>
          <p:cNvPr id="17" name="st-n01"/>
          <p:cNvSpPr/>
          <p:nvPr/>
        </p:nvSpPr>
        <p:spPr>
          <a:xfrm>
            <a:off x="886968" y="336499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8" name="st-nt01"/>
          <p:cNvSpPr txBox="1"/>
          <p:nvPr/>
        </p:nvSpPr>
        <p:spPr>
          <a:xfrm>
            <a:off x="978408" y="3364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이○○</a:t>
            </a:r>
            <a:endParaRPr lang="en-US" sz="1100" dirty="0"/>
          </a:p>
        </p:txBody>
      </p:sp>
      <p:sp>
        <p:nvSpPr>
          <p:cNvPr id="19" name="st-n02"/>
          <p:cNvSpPr/>
          <p:nvPr/>
        </p:nvSpPr>
        <p:spPr>
          <a:xfrm>
            <a:off x="886968" y="377647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20" name="st-nt02"/>
          <p:cNvSpPr txBox="1"/>
          <p:nvPr/>
        </p:nvSpPr>
        <p:spPr>
          <a:xfrm>
            <a:off x="978408" y="37764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박○○</a:t>
            </a:r>
            <a:endParaRPr lang="en-US" sz="1100" dirty="0"/>
          </a:p>
        </p:txBody>
      </p:sp>
      <p:sp>
        <p:nvSpPr>
          <p:cNvPr id="21" name="st-col-1"/>
          <p:cNvSpPr/>
          <p:nvPr/>
        </p:nvSpPr>
        <p:spPr>
          <a:xfrm>
            <a:off x="4367784" y="2423160"/>
            <a:ext cx="3453384" cy="3108960"/>
          </a:xfrm>
          <a:prstGeom prst="roundRect">
            <a:avLst>
              <a:gd name="adj" fmla="val 176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st-col-h1"/>
          <p:cNvSpPr/>
          <p:nvPr/>
        </p:nvSpPr>
        <p:spPr>
          <a:xfrm>
            <a:off x="4477512" y="2532888"/>
            <a:ext cx="3233928" cy="310896"/>
          </a:xfrm>
          <a:prstGeom prst="roundRect">
            <a:avLst>
              <a:gd name="adj" fmla="val 23529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23" name="st-col-ht1"/>
          <p:cNvSpPr txBox="1"/>
          <p:nvPr/>
        </p:nvSpPr>
        <p:spPr>
          <a:xfrm>
            <a:off x="4477512" y="2532888"/>
            <a:ext cx="323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진행 중 6명</a:t>
            </a:r>
            <a:endParaRPr lang="en-US" sz="1200" dirty="0"/>
          </a:p>
        </p:txBody>
      </p:sp>
      <p:sp>
        <p:nvSpPr>
          <p:cNvPr id="24" name="st-n10"/>
          <p:cNvSpPr/>
          <p:nvPr/>
        </p:nvSpPr>
        <p:spPr>
          <a:xfrm>
            <a:off x="4477512" y="295351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25" name="st-nt10"/>
          <p:cNvSpPr txBox="1"/>
          <p:nvPr/>
        </p:nvSpPr>
        <p:spPr>
          <a:xfrm>
            <a:off x="4568952" y="29535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최○○</a:t>
            </a:r>
            <a:endParaRPr lang="en-US" sz="1100" dirty="0"/>
          </a:p>
        </p:txBody>
      </p:sp>
      <p:sp>
        <p:nvSpPr>
          <p:cNvPr id="26" name="st-n11"/>
          <p:cNvSpPr/>
          <p:nvPr/>
        </p:nvSpPr>
        <p:spPr>
          <a:xfrm>
            <a:off x="4477512" y="336499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BE3E3"/>
          </a:solidFill>
          <a:ln w="15875">
            <a:solidFill>
              <a:srgbClr val="D9534F"/>
            </a:solidFill>
            <a:prstDash val="solid"/>
          </a:ln>
        </p:spPr>
      </p:sp>
      <p:sp>
        <p:nvSpPr>
          <p:cNvPr id="27" name="st-nt11"/>
          <p:cNvSpPr txBox="1"/>
          <p:nvPr/>
        </p:nvSpPr>
        <p:spPr>
          <a:xfrm>
            <a:off x="4568952" y="3364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정○○</a:t>
            </a:r>
            <a:endParaRPr lang="en-US" sz="1100" dirty="0"/>
          </a:p>
        </p:txBody>
      </p:sp>
      <p:sp>
        <p:nvSpPr>
          <p:cNvPr id="28" name="st-stuck"/>
          <p:cNvSpPr txBox="1"/>
          <p:nvPr/>
        </p:nvSpPr>
        <p:spPr>
          <a:xfrm>
            <a:off x="5556504" y="3364992"/>
            <a:ext cx="2081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B3B"/>
                </a:solidFill>
              </a:rPr>
              <a:t>도움 필요</a:t>
            </a:r>
            <a:endParaRPr lang="en-US" sz="1100" dirty="0"/>
          </a:p>
        </p:txBody>
      </p:sp>
      <p:sp>
        <p:nvSpPr>
          <p:cNvPr id="29" name="st-n12"/>
          <p:cNvSpPr/>
          <p:nvPr/>
        </p:nvSpPr>
        <p:spPr>
          <a:xfrm>
            <a:off x="4477512" y="377647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30" name="st-nt12"/>
          <p:cNvSpPr txBox="1"/>
          <p:nvPr/>
        </p:nvSpPr>
        <p:spPr>
          <a:xfrm>
            <a:off x="4568952" y="37764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강○○</a:t>
            </a:r>
            <a:endParaRPr lang="en-US" sz="1100" dirty="0"/>
          </a:p>
        </p:txBody>
      </p:sp>
      <p:sp>
        <p:nvSpPr>
          <p:cNvPr id="31" name="st-n13"/>
          <p:cNvSpPr/>
          <p:nvPr/>
        </p:nvSpPr>
        <p:spPr>
          <a:xfrm>
            <a:off x="4477512" y="418795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32" name="st-nt13"/>
          <p:cNvSpPr txBox="1"/>
          <p:nvPr/>
        </p:nvSpPr>
        <p:spPr>
          <a:xfrm>
            <a:off x="4568952" y="4187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조○○</a:t>
            </a:r>
            <a:endParaRPr lang="en-US" sz="1100" dirty="0"/>
          </a:p>
        </p:txBody>
      </p:sp>
      <p:sp>
        <p:nvSpPr>
          <p:cNvPr id="33" name="st-n14"/>
          <p:cNvSpPr/>
          <p:nvPr/>
        </p:nvSpPr>
        <p:spPr>
          <a:xfrm>
            <a:off x="4477512" y="459943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34" name="st-nt14"/>
          <p:cNvSpPr txBox="1"/>
          <p:nvPr/>
        </p:nvSpPr>
        <p:spPr>
          <a:xfrm>
            <a:off x="4568952" y="45994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윤○○</a:t>
            </a:r>
            <a:endParaRPr lang="en-US" sz="1100" dirty="0"/>
          </a:p>
        </p:txBody>
      </p:sp>
      <p:sp>
        <p:nvSpPr>
          <p:cNvPr id="35" name="st-n15"/>
          <p:cNvSpPr/>
          <p:nvPr/>
        </p:nvSpPr>
        <p:spPr>
          <a:xfrm>
            <a:off x="4477512" y="501091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36" name="st-nt15"/>
          <p:cNvSpPr txBox="1"/>
          <p:nvPr/>
        </p:nvSpPr>
        <p:spPr>
          <a:xfrm>
            <a:off x="4568952" y="5010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장○○</a:t>
            </a:r>
            <a:endParaRPr lang="en-US" sz="1100" dirty="0"/>
          </a:p>
        </p:txBody>
      </p:sp>
      <p:sp>
        <p:nvSpPr>
          <p:cNvPr id="37" name="st-col-2"/>
          <p:cNvSpPr/>
          <p:nvPr/>
        </p:nvSpPr>
        <p:spPr>
          <a:xfrm>
            <a:off x="7958328" y="2423160"/>
            <a:ext cx="3453384" cy="3108960"/>
          </a:xfrm>
          <a:prstGeom prst="roundRect">
            <a:avLst>
              <a:gd name="adj" fmla="val 176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8" name="st-col-h2"/>
          <p:cNvSpPr/>
          <p:nvPr/>
        </p:nvSpPr>
        <p:spPr>
          <a:xfrm>
            <a:off x="8068056" y="2532888"/>
            <a:ext cx="3233928" cy="310896"/>
          </a:xfrm>
          <a:prstGeom prst="roundRect">
            <a:avLst>
              <a:gd name="adj" fmla="val 23529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39" name="st-col-ht2"/>
          <p:cNvSpPr txBox="1"/>
          <p:nvPr/>
        </p:nvSpPr>
        <p:spPr>
          <a:xfrm>
            <a:off x="8068056" y="2532888"/>
            <a:ext cx="3233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제출 15명</a:t>
            </a:r>
            <a:endParaRPr lang="en-US" sz="1200" dirty="0"/>
          </a:p>
        </p:txBody>
      </p:sp>
      <p:sp>
        <p:nvSpPr>
          <p:cNvPr id="40" name="st-n20"/>
          <p:cNvSpPr/>
          <p:nvPr/>
        </p:nvSpPr>
        <p:spPr>
          <a:xfrm>
            <a:off x="8068056" y="295351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41" name="st-nt20"/>
          <p:cNvSpPr txBox="1"/>
          <p:nvPr/>
        </p:nvSpPr>
        <p:spPr>
          <a:xfrm>
            <a:off x="8159496" y="29535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임○○</a:t>
            </a:r>
            <a:endParaRPr lang="en-US" sz="1100" dirty="0"/>
          </a:p>
        </p:txBody>
      </p:sp>
      <p:sp>
        <p:nvSpPr>
          <p:cNvPr id="42" name="st-n21"/>
          <p:cNvSpPr/>
          <p:nvPr/>
        </p:nvSpPr>
        <p:spPr>
          <a:xfrm>
            <a:off x="8068056" y="336499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43" name="st-nt21"/>
          <p:cNvSpPr txBox="1"/>
          <p:nvPr/>
        </p:nvSpPr>
        <p:spPr>
          <a:xfrm>
            <a:off x="8159496" y="3364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한○○</a:t>
            </a:r>
            <a:endParaRPr lang="en-US" sz="1100" dirty="0"/>
          </a:p>
        </p:txBody>
      </p:sp>
      <p:sp>
        <p:nvSpPr>
          <p:cNvPr id="44" name="st-n22"/>
          <p:cNvSpPr/>
          <p:nvPr/>
        </p:nvSpPr>
        <p:spPr>
          <a:xfrm>
            <a:off x="8068056" y="377647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45" name="st-nt22"/>
          <p:cNvSpPr txBox="1"/>
          <p:nvPr/>
        </p:nvSpPr>
        <p:spPr>
          <a:xfrm>
            <a:off x="8159496" y="37764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오○○</a:t>
            </a:r>
            <a:endParaRPr lang="en-US" sz="1100" dirty="0"/>
          </a:p>
        </p:txBody>
      </p:sp>
      <p:sp>
        <p:nvSpPr>
          <p:cNvPr id="46" name="st-n23"/>
          <p:cNvSpPr/>
          <p:nvPr/>
        </p:nvSpPr>
        <p:spPr>
          <a:xfrm>
            <a:off x="8068056" y="418795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47" name="st-nt23"/>
          <p:cNvSpPr txBox="1"/>
          <p:nvPr/>
        </p:nvSpPr>
        <p:spPr>
          <a:xfrm>
            <a:off x="8159496" y="4187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서○○</a:t>
            </a:r>
            <a:endParaRPr lang="en-US" sz="1100" dirty="0"/>
          </a:p>
        </p:txBody>
      </p:sp>
      <p:sp>
        <p:nvSpPr>
          <p:cNvPr id="48" name="st-n24"/>
          <p:cNvSpPr/>
          <p:nvPr/>
        </p:nvSpPr>
        <p:spPr>
          <a:xfrm>
            <a:off x="8068056" y="459943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49" name="st-nt24"/>
          <p:cNvSpPr txBox="1"/>
          <p:nvPr/>
        </p:nvSpPr>
        <p:spPr>
          <a:xfrm>
            <a:off x="8159496" y="45994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신○○</a:t>
            </a:r>
            <a:endParaRPr lang="en-US" sz="1100" dirty="0"/>
          </a:p>
        </p:txBody>
      </p:sp>
      <p:sp>
        <p:nvSpPr>
          <p:cNvPr id="50" name="st-n25"/>
          <p:cNvSpPr/>
          <p:nvPr/>
        </p:nvSpPr>
        <p:spPr>
          <a:xfrm>
            <a:off x="8068056" y="5010912"/>
            <a:ext cx="32339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51" name="st-nt25"/>
          <p:cNvSpPr txBox="1"/>
          <p:nvPr/>
        </p:nvSpPr>
        <p:spPr>
          <a:xfrm>
            <a:off x="8159496" y="5010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+10명</a:t>
            </a:r>
            <a:endParaRPr lang="en-US" sz="1100" dirty="0"/>
          </a:p>
        </p:txBody>
      </p:sp>
      <p:sp>
        <p:nvSpPr>
          <p:cNvPr id="52" name="st-note"/>
          <p:cNvSpPr txBox="1"/>
          <p:nvPr/>
        </p:nvSpPr>
        <p:spPr>
          <a:xfrm>
            <a:off x="548640" y="5879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학생이 쓴 이유는 수업 뒤 AI가 확인하고, 교사는 따로 볼 학생만 본다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사용하고: 피드백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6656294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11 / 17</a:t>
            </a:r>
            <a:endParaRPr lang="en-US" sz="1100" dirty="0"/>
          </a:p>
        </p:txBody>
      </p:sp>
      <p:sp>
        <p:nvSpPr>
          <p:cNvPr id="6" name="fb-step0"/>
          <p:cNvSpPr/>
          <p:nvPr/>
        </p:nvSpPr>
        <p:spPr>
          <a:xfrm>
            <a:off x="548640" y="132588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E4E7EC"/>
            </a:solidFill>
            <a:prstDash val="solid"/>
          </a:ln>
        </p:spPr>
      </p:sp>
      <p:sp>
        <p:nvSpPr>
          <p:cNvPr id="7" name="fb-head0"/>
          <p:cNvSpPr/>
          <p:nvPr/>
        </p:nvSpPr>
        <p:spPr>
          <a:xfrm>
            <a:off x="548640" y="13258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fb-ht0"/>
          <p:cNvSpPr txBox="1"/>
          <p:nvPr/>
        </p:nvSpPr>
        <p:spPr>
          <a:xfrm>
            <a:off x="658368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학생 제출</a:t>
            </a:r>
            <a:endParaRPr lang="en-US" sz="1400" dirty="0"/>
          </a:p>
        </p:txBody>
      </p:sp>
      <p:sp>
        <p:nvSpPr>
          <p:cNvPr id="9" name="fb-body0"/>
          <p:cNvSpPr txBox="1"/>
          <p:nvPr/>
        </p:nvSpPr>
        <p:spPr>
          <a:xfrm>
            <a:off x="676656" y="1801368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제출하면 바로 시작</a:t>
            </a:r>
            <a:endParaRPr lang="en-US" sz="1200" dirty="0"/>
          </a:p>
        </p:txBody>
      </p:sp>
      <p:sp>
        <p:nvSpPr>
          <p:cNvPr id="10" name="fb-arr0"/>
          <p:cNvSpPr/>
          <p:nvPr/>
        </p:nvSpPr>
        <p:spPr>
          <a:xfrm>
            <a:off x="2029968" y="1828800"/>
            <a:ext cx="109728" cy="237744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1" name="fb-step1"/>
          <p:cNvSpPr/>
          <p:nvPr/>
        </p:nvSpPr>
        <p:spPr>
          <a:xfrm>
            <a:off x="2157984" y="132588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C9DAEC"/>
            </a:solidFill>
            <a:prstDash val="solid"/>
          </a:ln>
        </p:spPr>
      </p:sp>
      <p:sp>
        <p:nvSpPr>
          <p:cNvPr id="12" name="fb-head1"/>
          <p:cNvSpPr/>
          <p:nvPr/>
        </p:nvSpPr>
        <p:spPr>
          <a:xfrm>
            <a:off x="2157984" y="13258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3" name="fb-ht1"/>
          <p:cNvSpPr txBox="1"/>
          <p:nvPr/>
        </p:nvSpPr>
        <p:spPr>
          <a:xfrm>
            <a:off x="2267712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① 자동 확인</a:t>
            </a:r>
            <a:endParaRPr lang="en-US" sz="1400" dirty="0"/>
          </a:p>
        </p:txBody>
      </p:sp>
      <p:sp>
        <p:nvSpPr>
          <p:cNvPr id="14" name="fb-who1"/>
          <p:cNvSpPr txBox="1"/>
          <p:nvPr/>
        </p:nvSpPr>
        <p:spPr>
          <a:xfrm>
            <a:off x="3346704" y="13258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시스템·AI</a:t>
            </a:r>
            <a:endParaRPr lang="en-US" sz="1000" dirty="0"/>
          </a:p>
        </p:txBody>
      </p:sp>
      <p:sp>
        <p:nvSpPr>
          <p:cNvPr id="15" name="fb-body1"/>
          <p:cNvSpPr txBox="1"/>
          <p:nvPr/>
        </p:nvSpPr>
        <p:spPr>
          <a:xfrm>
            <a:off x="2286000" y="180136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정답 칸 · 문장 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맞음 / 다시 볼 칸</a:t>
            </a:r>
            <a:endParaRPr lang="en-US" sz="1200" dirty="0"/>
          </a:p>
        </p:txBody>
      </p:sp>
      <p:sp>
        <p:nvSpPr>
          <p:cNvPr id="16" name="fb-arr1"/>
          <p:cNvSpPr/>
          <p:nvPr/>
        </p:nvSpPr>
        <p:spPr>
          <a:xfrm>
            <a:off x="4279392" y="1828800"/>
            <a:ext cx="109728" cy="237744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7" name="fb-step2"/>
          <p:cNvSpPr/>
          <p:nvPr/>
        </p:nvSpPr>
        <p:spPr>
          <a:xfrm>
            <a:off x="4407408" y="13258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E2DDF0"/>
            </a:solidFill>
            <a:prstDash val="solid"/>
          </a:ln>
        </p:spPr>
      </p:sp>
      <p:sp>
        <p:nvSpPr>
          <p:cNvPr id="18" name="fb-head2"/>
          <p:cNvSpPr/>
          <p:nvPr/>
        </p:nvSpPr>
        <p:spPr>
          <a:xfrm>
            <a:off x="4407408" y="132588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19" name="fb-ht2"/>
          <p:cNvSpPr txBox="1"/>
          <p:nvPr/>
        </p:nvSpPr>
        <p:spPr>
          <a:xfrm>
            <a:off x="4517136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② 미리 고르기</a:t>
            </a:r>
            <a:endParaRPr lang="en-US" sz="1400" dirty="0"/>
          </a:p>
        </p:txBody>
      </p:sp>
      <p:sp>
        <p:nvSpPr>
          <p:cNvPr id="20" name="fb-who2"/>
          <p:cNvSpPr txBox="1"/>
          <p:nvPr/>
        </p:nvSpPr>
        <p:spPr>
          <a:xfrm>
            <a:off x="6144768" y="13258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시스템·AI</a:t>
            </a:r>
            <a:endParaRPr lang="en-US" sz="1000" dirty="0"/>
          </a:p>
        </p:txBody>
      </p:sp>
      <p:sp>
        <p:nvSpPr>
          <p:cNvPr id="21" name="fb-body2"/>
          <p:cNvSpPr txBox="1"/>
          <p:nvPr/>
        </p:nvSpPr>
        <p:spPr>
          <a:xfrm>
            <a:off x="4535424" y="1801368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학생마다 피드백 1개 선택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따로 볼 학생은 색 표시</a:t>
            </a:r>
            <a:endParaRPr lang="en-US" sz="1200" dirty="0"/>
          </a:p>
        </p:txBody>
      </p:sp>
      <p:sp>
        <p:nvSpPr>
          <p:cNvPr id="22" name="fb-arr2"/>
          <p:cNvSpPr/>
          <p:nvPr/>
        </p:nvSpPr>
        <p:spPr>
          <a:xfrm>
            <a:off x="7077456" y="1828800"/>
            <a:ext cx="109728" cy="237744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23" name="fb-step3"/>
          <p:cNvSpPr/>
          <p:nvPr/>
        </p:nvSpPr>
        <p:spPr>
          <a:xfrm>
            <a:off x="7205472" y="13258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1E3B0"/>
            </a:solidFill>
            <a:prstDash val="solid"/>
          </a:ln>
        </p:spPr>
      </p:sp>
      <p:sp>
        <p:nvSpPr>
          <p:cNvPr id="24" name="fb-head3"/>
          <p:cNvSpPr/>
          <p:nvPr/>
        </p:nvSpPr>
        <p:spPr>
          <a:xfrm>
            <a:off x="7205472" y="132588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25" name="fb-ht3"/>
          <p:cNvSpPr txBox="1"/>
          <p:nvPr/>
        </p:nvSpPr>
        <p:spPr>
          <a:xfrm>
            <a:off x="731520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③ 교사 확인</a:t>
            </a:r>
            <a:endParaRPr lang="en-US" sz="1400" dirty="0"/>
          </a:p>
        </p:txBody>
      </p:sp>
      <p:sp>
        <p:nvSpPr>
          <p:cNvPr id="26" name="fb-who3"/>
          <p:cNvSpPr txBox="1"/>
          <p:nvPr/>
        </p:nvSpPr>
        <p:spPr>
          <a:xfrm>
            <a:off x="8942832" y="1325880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교사</a:t>
            </a:r>
            <a:endParaRPr lang="en-US" sz="1000" dirty="0"/>
          </a:p>
        </p:txBody>
      </p:sp>
      <p:sp>
        <p:nvSpPr>
          <p:cNvPr id="27" name="fb-body3"/>
          <p:cNvSpPr txBox="1"/>
          <p:nvPr/>
        </p:nvSpPr>
        <p:spPr>
          <a:xfrm>
            <a:off x="7333488" y="1801368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색 표시된 학생만 보고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필요하면 바꾸기</a:t>
            </a:r>
            <a:endParaRPr lang="en-US" sz="1200" dirty="0"/>
          </a:p>
        </p:txBody>
      </p:sp>
      <p:sp>
        <p:nvSpPr>
          <p:cNvPr id="28" name="fb-arr3"/>
          <p:cNvSpPr/>
          <p:nvPr/>
        </p:nvSpPr>
        <p:spPr>
          <a:xfrm>
            <a:off x="9875520" y="1828800"/>
            <a:ext cx="109728" cy="237744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29" name="fb-step4"/>
          <p:cNvSpPr/>
          <p:nvPr/>
        </p:nvSpPr>
        <p:spPr>
          <a:xfrm>
            <a:off x="10003536" y="132588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D3E7DC"/>
            </a:solidFill>
            <a:prstDash val="solid"/>
          </a:ln>
        </p:spPr>
      </p:sp>
      <p:sp>
        <p:nvSpPr>
          <p:cNvPr id="30" name="fb-head4"/>
          <p:cNvSpPr/>
          <p:nvPr/>
        </p:nvSpPr>
        <p:spPr>
          <a:xfrm>
            <a:off x="10003536" y="13258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31" name="fb-ht4"/>
          <p:cNvSpPr txBox="1"/>
          <p:nvPr/>
        </p:nvSpPr>
        <p:spPr>
          <a:xfrm>
            <a:off x="10113264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모두 전송</a:t>
            </a:r>
            <a:endParaRPr lang="en-US" sz="1400" dirty="0"/>
          </a:p>
        </p:txBody>
      </p:sp>
      <p:sp>
        <p:nvSpPr>
          <p:cNvPr id="32" name="fb-body4"/>
          <p:cNvSpPr txBox="1"/>
          <p:nvPr/>
        </p:nvSpPr>
        <p:spPr>
          <a:xfrm>
            <a:off x="10131552" y="180136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버튼 한 번</a:t>
            </a:r>
            <a:endParaRPr lang="en-US" sz="1200" dirty="0"/>
          </a:p>
        </p:txBody>
      </p:sp>
      <p:sp>
        <p:nvSpPr>
          <p:cNvPr id="33" name="fb-tv"/>
          <p:cNvSpPr/>
          <p:nvPr/>
        </p:nvSpPr>
        <p:spPr>
          <a:xfrm>
            <a:off x="548640" y="2697480"/>
            <a:ext cx="73152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34" name="fb-tv-t"/>
          <p:cNvSpPr txBox="1"/>
          <p:nvPr/>
        </p:nvSpPr>
        <p:spPr>
          <a:xfrm>
            <a:off x="731520" y="2770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교사 화면 · 학생별 피드백</a:t>
            </a:r>
            <a:endParaRPr lang="en-US" sz="1400" dirty="0"/>
          </a:p>
        </p:txBody>
      </p:sp>
      <p:sp>
        <p:nvSpPr>
          <p:cNvPr id="35" name="fb-tv-s"/>
          <p:cNvSpPr txBox="1"/>
          <p:nvPr/>
        </p:nvSpPr>
        <p:spPr>
          <a:xfrm>
            <a:off x="4023360" y="2770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</a:rPr>
              <a:t>미리 골라 둠 · 바꾸려면 한 번 누르기</a:t>
            </a:r>
            <a:endParaRPr lang="en-US" sz="1100" dirty="0"/>
          </a:p>
        </p:txBody>
      </p:sp>
      <p:sp>
        <p:nvSpPr>
          <p:cNvPr id="36" name="fb-r0"/>
          <p:cNvSpPr/>
          <p:nvPr/>
        </p:nvSpPr>
        <p:spPr>
          <a:xfrm>
            <a:off x="685800" y="3200400"/>
            <a:ext cx="7040880" cy="36576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fb-rn0"/>
          <p:cNvSpPr txBox="1"/>
          <p:nvPr/>
        </p:nvSpPr>
        <p:spPr>
          <a:xfrm>
            <a:off x="82296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김○○</a:t>
            </a:r>
            <a:endParaRPr lang="en-US" sz="1200" dirty="0"/>
          </a:p>
        </p:txBody>
      </p:sp>
      <p:sp>
        <p:nvSpPr>
          <p:cNvPr id="38" name="fb-rs0"/>
          <p:cNvSpPr txBox="1"/>
          <p:nvPr/>
        </p:nvSpPr>
        <p:spPr>
          <a:xfrm>
            <a:off x="155448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3/3 맞음</a:t>
            </a:r>
            <a:endParaRPr lang="en-US" sz="1100" dirty="0"/>
          </a:p>
        </p:txBody>
      </p:sp>
      <p:sp>
        <p:nvSpPr>
          <p:cNvPr id="39" name="fb-b00"/>
          <p:cNvSpPr/>
          <p:nvPr/>
        </p:nvSpPr>
        <p:spPr>
          <a:xfrm>
            <a:off x="2514600" y="3255264"/>
            <a:ext cx="1051560" cy="256032"/>
          </a:xfrm>
          <a:prstGeom prst="roundRect">
            <a:avLst>
              <a:gd name="adj" fmla="val 53571"/>
            </a:avLst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0" name="fb-bt00"/>
          <p:cNvSpPr txBox="1"/>
          <p:nvPr/>
        </p:nvSpPr>
        <p:spPr>
          <a:xfrm>
            <a:off x="2514600" y="3255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잘했어요</a:t>
            </a:r>
            <a:endParaRPr lang="en-US" sz="1000" dirty="0"/>
          </a:p>
        </p:txBody>
      </p:sp>
      <p:sp>
        <p:nvSpPr>
          <p:cNvPr id="41" name="fb-b01"/>
          <p:cNvSpPr/>
          <p:nvPr/>
        </p:nvSpPr>
        <p:spPr>
          <a:xfrm>
            <a:off x="3657600" y="3255264"/>
            <a:ext cx="1325880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42" name="fb-bt01"/>
          <p:cNvSpPr txBox="1"/>
          <p:nvPr/>
        </p:nvSpPr>
        <p:spPr>
          <a:xfrm>
            <a:off x="3657600" y="3255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거의 다 왔어요</a:t>
            </a:r>
            <a:endParaRPr lang="en-US" sz="1000" dirty="0"/>
          </a:p>
        </p:txBody>
      </p:sp>
      <p:sp>
        <p:nvSpPr>
          <p:cNvPr id="43" name="fb-b02"/>
          <p:cNvSpPr/>
          <p:nvPr/>
        </p:nvSpPr>
        <p:spPr>
          <a:xfrm>
            <a:off x="5074920" y="3255264"/>
            <a:ext cx="1554480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44" name="fb-bt02"/>
          <p:cNvSpPr txBox="1"/>
          <p:nvPr/>
        </p:nvSpPr>
        <p:spPr>
          <a:xfrm>
            <a:off x="5074920" y="32552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한 번 더 살펴봐요</a:t>
            </a:r>
            <a:endParaRPr lang="en-US" sz="1000" dirty="0"/>
          </a:p>
        </p:txBody>
      </p:sp>
      <p:sp>
        <p:nvSpPr>
          <p:cNvPr id="45" name="fb-r1"/>
          <p:cNvSpPr/>
          <p:nvPr/>
        </p:nvSpPr>
        <p:spPr>
          <a:xfrm>
            <a:off x="685800" y="3630168"/>
            <a:ext cx="7040880" cy="36576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6" name="fb-rn1"/>
          <p:cNvSpPr txBox="1"/>
          <p:nvPr/>
        </p:nvSpPr>
        <p:spPr>
          <a:xfrm>
            <a:off x="822960" y="3630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이○○</a:t>
            </a:r>
            <a:endParaRPr lang="en-US" sz="1200" dirty="0"/>
          </a:p>
        </p:txBody>
      </p:sp>
      <p:sp>
        <p:nvSpPr>
          <p:cNvPr id="47" name="fb-rs1"/>
          <p:cNvSpPr txBox="1"/>
          <p:nvPr/>
        </p:nvSpPr>
        <p:spPr>
          <a:xfrm>
            <a:off x="155448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2/3 맞음</a:t>
            </a:r>
            <a:endParaRPr lang="en-US" sz="1100" dirty="0"/>
          </a:p>
        </p:txBody>
      </p:sp>
      <p:sp>
        <p:nvSpPr>
          <p:cNvPr id="48" name="fb-b10"/>
          <p:cNvSpPr/>
          <p:nvPr/>
        </p:nvSpPr>
        <p:spPr>
          <a:xfrm>
            <a:off x="2514600" y="3685032"/>
            <a:ext cx="1051560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49" name="fb-bt10"/>
          <p:cNvSpPr txBox="1"/>
          <p:nvPr/>
        </p:nvSpPr>
        <p:spPr>
          <a:xfrm>
            <a:off x="2514600" y="36850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잘했어요</a:t>
            </a:r>
            <a:endParaRPr lang="en-US" sz="1000" dirty="0"/>
          </a:p>
        </p:txBody>
      </p:sp>
      <p:sp>
        <p:nvSpPr>
          <p:cNvPr id="50" name="fb-b11"/>
          <p:cNvSpPr/>
          <p:nvPr/>
        </p:nvSpPr>
        <p:spPr>
          <a:xfrm>
            <a:off x="3657600" y="3685032"/>
            <a:ext cx="1325880" cy="256032"/>
          </a:xfrm>
          <a:prstGeom prst="roundRect">
            <a:avLst>
              <a:gd name="adj" fmla="val 53571"/>
            </a:avLst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1" name="fb-bt11"/>
          <p:cNvSpPr txBox="1"/>
          <p:nvPr/>
        </p:nvSpPr>
        <p:spPr>
          <a:xfrm>
            <a:off x="3657600" y="3685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거의 다 왔어요</a:t>
            </a:r>
            <a:endParaRPr lang="en-US" sz="1000" dirty="0"/>
          </a:p>
        </p:txBody>
      </p:sp>
      <p:sp>
        <p:nvSpPr>
          <p:cNvPr id="52" name="fb-b12"/>
          <p:cNvSpPr/>
          <p:nvPr/>
        </p:nvSpPr>
        <p:spPr>
          <a:xfrm>
            <a:off x="5074920" y="3685032"/>
            <a:ext cx="1554480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53" name="fb-bt12"/>
          <p:cNvSpPr txBox="1"/>
          <p:nvPr/>
        </p:nvSpPr>
        <p:spPr>
          <a:xfrm>
            <a:off x="5074920" y="3685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한 번 더 살펴봐요</a:t>
            </a:r>
            <a:endParaRPr lang="en-US" sz="1000" dirty="0"/>
          </a:p>
        </p:txBody>
      </p:sp>
      <p:sp>
        <p:nvSpPr>
          <p:cNvPr id="54" name="fb-r2"/>
          <p:cNvSpPr/>
          <p:nvPr/>
        </p:nvSpPr>
        <p:spPr>
          <a:xfrm>
            <a:off x="685800" y="4059936"/>
            <a:ext cx="7040880" cy="36576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5" name="fb-rn2"/>
          <p:cNvSpPr txBox="1"/>
          <p:nvPr/>
        </p:nvSpPr>
        <p:spPr>
          <a:xfrm>
            <a:off x="822960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박○○</a:t>
            </a:r>
            <a:endParaRPr lang="en-US" sz="1200" dirty="0"/>
          </a:p>
        </p:txBody>
      </p:sp>
      <p:sp>
        <p:nvSpPr>
          <p:cNvPr id="56" name="fb-rs2"/>
          <p:cNvSpPr txBox="1"/>
          <p:nvPr/>
        </p:nvSpPr>
        <p:spPr>
          <a:xfrm>
            <a:off x="1554480" y="40599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1/3 맞음</a:t>
            </a:r>
            <a:endParaRPr lang="en-US" sz="1100" dirty="0"/>
          </a:p>
        </p:txBody>
      </p:sp>
      <p:sp>
        <p:nvSpPr>
          <p:cNvPr id="57" name="fb-b20"/>
          <p:cNvSpPr/>
          <p:nvPr/>
        </p:nvSpPr>
        <p:spPr>
          <a:xfrm>
            <a:off x="2514600" y="4114800"/>
            <a:ext cx="1051560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58" name="fb-bt20"/>
          <p:cNvSpPr txBox="1"/>
          <p:nvPr/>
        </p:nvSpPr>
        <p:spPr>
          <a:xfrm>
            <a:off x="2514600" y="4114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잘했어요</a:t>
            </a:r>
            <a:endParaRPr lang="en-US" sz="1000" dirty="0"/>
          </a:p>
        </p:txBody>
      </p:sp>
      <p:sp>
        <p:nvSpPr>
          <p:cNvPr id="59" name="fb-b21"/>
          <p:cNvSpPr/>
          <p:nvPr/>
        </p:nvSpPr>
        <p:spPr>
          <a:xfrm>
            <a:off x="3657600" y="4114800"/>
            <a:ext cx="1325880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60" name="fb-bt21"/>
          <p:cNvSpPr txBox="1"/>
          <p:nvPr/>
        </p:nvSpPr>
        <p:spPr>
          <a:xfrm>
            <a:off x="365760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거의 다 왔어요</a:t>
            </a:r>
            <a:endParaRPr lang="en-US" sz="1000" dirty="0"/>
          </a:p>
        </p:txBody>
      </p:sp>
      <p:sp>
        <p:nvSpPr>
          <p:cNvPr id="61" name="fb-b22"/>
          <p:cNvSpPr/>
          <p:nvPr/>
        </p:nvSpPr>
        <p:spPr>
          <a:xfrm>
            <a:off x="5074920" y="4114800"/>
            <a:ext cx="1554480" cy="256032"/>
          </a:xfrm>
          <a:prstGeom prst="roundRect">
            <a:avLst>
              <a:gd name="adj" fmla="val 53571"/>
            </a:avLst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2" name="fb-bt22"/>
          <p:cNvSpPr txBox="1"/>
          <p:nvPr/>
        </p:nvSpPr>
        <p:spPr>
          <a:xfrm>
            <a:off x="5074920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한 번 더 살펴봐요</a:t>
            </a:r>
            <a:endParaRPr lang="en-US" sz="1000" dirty="0"/>
          </a:p>
        </p:txBody>
      </p:sp>
      <p:sp>
        <p:nvSpPr>
          <p:cNvPr id="63" name="fb-r3"/>
          <p:cNvSpPr/>
          <p:nvPr/>
        </p:nvSpPr>
        <p:spPr>
          <a:xfrm>
            <a:off x="685800" y="4489704"/>
            <a:ext cx="7040880" cy="731520"/>
          </a:xfrm>
          <a:prstGeom prst="roundRect">
            <a:avLst>
              <a:gd name="adj" fmla="val 7500"/>
            </a:avLst>
          </a:prstGeom>
          <a:solidFill>
            <a:srgbClr val="FBE3E3"/>
          </a:solidFill>
          <a:ln w="15875">
            <a:solidFill>
              <a:srgbClr val="D9534F"/>
            </a:solidFill>
            <a:prstDash val="solid"/>
          </a:ln>
        </p:spPr>
      </p:sp>
      <p:sp>
        <p:nvSpPr>
          <p:cNvPr id="64" name="fb-rn3"/>
          <p:cNvSpPr txBox="1"/>
          <p:nvPr/>
        </p:nvSpPr>
        <p:spPr>
          <a:xfrm>
            <a:off x="822960" y="44897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정○○</a:t>
            </a:r>
            <a:endParaRPr lang="en-US" sz="1200" dirty="0"/>
          </a:p>
        </p:txBody>
      </p:sp>
      <p:sp>
        <p:nvSpPr>
          <p:cNvPr id="65" name="fb-rs3"/>
          <p:cNvSpPr txBox="1"/>
          <p:nvPr/>
        </p:nvSpPr>
        <p:spPr>
          <a:xfrm>
            <a:off x="1554480" y="44897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1/3 맞음</a:t>
            </a:r>
            <a:endParaRPr lang="en-US" sz="1100" dirty="0"/>
          </a:p>
        </p:txBody>
      </p:sp>
      <p:sp>
        <p:nvSpPr>
          <p:cNvPr id="66" name="fb-b30"/>
          <p:cNvSpPr/>
          <p:nvPr/>
        </p:nvSpPr>
        <p:spPr>
          <a:xfrm>
            <a:off x="2514600" y="4544568"/>
            <a:ext cx="1051560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67" name="fb-bt30"/>
          <p:cNvSpPr txBox="1"/>
          <p:nvPr/>
        </p:nvSpPr>
        <p:spPr>
          <a:xfrm>
            <a:off x="2514600" y="45445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잘했어요</a:t>
            </a:r>
            <a:endParaRPr lang="en-US" sz="1000" dirty="0"/>
          </a:p>
        </p:txBody>
      </p:sp>
      <p:sp>
        <p:nvSpPr>
          <p:cNvPr id="68" name="fb-b31"/>
          <p:cNvSpPr/>
          <p:nvPr/>
        </p:nvSpPr>
        <p:spPr>
          <a:xfrm>
            <a:off x="3657600" y="4544568"/>
            <a:ext cx="1325880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69" name="fb-bt31"/>
          <p:cNvSpPr txBox="1"/>
          <p:nvPr/>
        </p:nvSpPr>
        <p:spPr>
          <a:xfrm>
            <a:off x="3657600" y="45445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거의 다 왔어요</a:t>
            </a:r>
            <a:endParaRPr lang="en-US" sz="1000" dirty="0"/>
          </a:p>
        </p:txBody>
      </p:sp>
      <p:sp>
        <p:nvSpPr>
          <p:cNvPr id="70" name="fb-b32"/>
          <p:cNvSpPr/>
          <p:nvPr/>
        </p:nvSpPr>
        <p:spPr>
          <a:xfrm>
            <a:off x="5074920" y="4544568"/>
            <a:ext cx="1554480" cy="256032"/>
          </a:xfrm>
          <a:prstGeom prst="roundRect">
            <a:avLst>
              <a:gd name="adj" fmla="val 53571"/>
            </a:avLst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71" name="fb-bt32"/>
          <p:cNvSpPr txBox="1"/>
          <p:nvPr/>
        </p:nvSpPr>
        <p:spPr>
          <a:xfrm>
            <a:off x="5074920" y="4544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한 번 더 살펴봐요</a:t>
            </a:r>
            <a:endParaRPr lang="en-US" sz="1000" dirty="0"/>
          </a:p>
        </p:txBody>
      </p:sp>
      <p:sp>
        <p:nvSpPr>
          <p:cNvPr id="72" name="fb-hot"/>
          <p:cNvSpPr txBox="1"/>
          <p:nvPr/>
        </p:nvSpPr>
        <p:spPr>
          <a:xfrm>
            <a:off x="6675120" y="44897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23B3B"/>
                </a:solidFill>
              </a:rPr>
              <a:t>따로 볼 학생</a:t>
            </a:r>
            <a:endParaRPr lang="en-US" sz="1000" dirty="0"/>
          </a:p>
        </p:txBody>
      </p:sp>
      <p:sp>
        <p:nvSpPr>
          <p:cNvPr id="73" name="fb-ai"/>
          <p:cNvSpPr txBox="1"/>
          <p:nvPr/>
        </p:nvSpPr>
        <p:spPr>
          <a:xfrm>
            <a:off x="822960" y="485546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AI 초안: “요금표에서 15세가 어느 칸에 들어가는지 다시 볼까요?”  ✎ 고치기</a:t>
            </a:r>
            <a:endParaRPr lang="en-US" sz="1100" dirty="0"/>
          </a:p>
        </p:txBody>
      </p:sp>
      <p:sp>
        <p:nvSpPr>
          <p:cNvPr id="74" name="fb-more"/>
          <p:cNvSpPr txBox="1"/>
          <p:nvPr/>
        </p:nvSpPr>
        <p:spPr>
          <a:xfrm>
            <a:off x="822960" y="5303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</a:rPr>
              <a:t>+ 11명</a:t>
            </a:r>
            <a:endParaRPr lang="en-US" sz="1100" dirty="0"/>
          </a:p>
        </p:txBody>
      </p:sp>
      <p:sp>
        <p:nvSpPr>
          <p:cNvPr id="75" name="fb-send"/>
          <p:cNvSpPr/>
          <p:nvPr/>
        </p:nvSpPr>
        <p:spPr>
          <a:xfrm>
            <a:off x="5074920" y="530352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6" name="fb-send-t"/>
          <p:cNvSpPr txBox="1"/>
          <p:nvPr/>
        </p:nvSpPr>
        <p:spPr>
          <a:xfrm>
            <a:off x="5074920" y="5303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제출한 15명에게 모두 전송</a:t>
            </a:r>
            <a:endParaRPr lang="en-US" sz="1200" dirty="0"/>
          </a:p>
        </p:txBody>
      </p:sp>
      <p:sp>
        <p:nvSpPr>
          <p:cNvPr id="77" name="fb-sv"/>
          <p:cNvSpPr/>
          <p:nvPr/>
        </p:nvSpPr>
        <p:spPr>
          <a:xfrm>
            <a:off x="8046720" y="2697480"/>
            <a:ext cx="3593592" cy="3108960"/>
          </a:xfrm>
          <a:prstGeom prst="roundRect">
            <a:avLst>
              <a:gd name="adj" fmla="val 2941"/>
            </a:avLst>
          </a:prstGeom>
          <a:solidFill>
            <a:srgbClr val="F7F8FA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78" name="fb-sv-t"/>
          <p:cNvSpPr txBox="1"/>
          <p:nvPr/>
        </p:nvSpPr>
        <p:spPr>
          <a:xfrm>
            <a:off x="8229600" y="2770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학생 화면</a:t>
            </a:r>
            <a:endParaRPr lang="en-US" sz="1400" dirty="0"/>
          </a:p>
        </p:txBody>
      </p:sp>
      <p:sp>
        <p:nvSpPr>
          <p:cNvPr id="79" name="fb-sv-card"/>
          <p:cNvSpPr/>
          <p:nvPr/>
        </p:nvSpPr>
        <p:spPr>
          <a:xfrm>
            <a:off x="8229600" y="3246120"/>
            <a:ext cx="3227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80" name="fb-sv-stamp"/>
          <p:cNvSpPr/>
          <p:nvPr/>
        </p:nvSpPr>
        <p:spPr>
          <a:xfrm>
            <a:off x="8366760" y="335584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81" name="fb-sv-stamp-t"/>
          <p:cNvSpPr txBox="1"/>
          <p:nvPr/>
        </p:nvSpPr>
        <p:spPr>
          <a:xfrm>
            <a:off x="8366760" y="33558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거의 다 왔어요</a:t>
            </a:r>
            <a:endParaRPr lang="en-US" sz="1200" dirty="0"/>
          </a:p>
        </p:txBody>
      </p:sp>
      <p:sp>
        <p:nvSpPr>
          <p:cNvPr id="82" name="fb-sv-l"/>
          <p:cNvSpPr txBox="1"/>
          <p:nvPr/>
        </p:nvSpPr>
        <p:spPr>
          <a:xfrm>
            <a:off x="8366760" y="38404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다시 볼 칸</a:t>
            </a:r>
            <a:endParaRPr lang="en-US" sz="1100" dirty="0"/>
          </a:p>
        </p:txBody>
      </p:sp>
      <p:sp>
        <p:nvSpPr>
          <p:cNvPr id="83" name="fb-sv-q"/>
          <p:cNvSpPr/>
          <p:nvPr/>
        </p:nvSpPr>
        <p:spPr>
          <a:xfrm>
            <a:off x="9372600" y="387705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4C7C7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84" name="fb-sv-q-t"/>
          <p:cNvSpPr txBox="1"/>
          <p:nvPr/>
        </p:nvSpPr>
        <p:spPr>
          <a:xfrm>
            <a:off x="9372600" y="3877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문항 2</a:t>
            </a:r>
            <a:endParaRPr lang="en-US" sz="1000" dirty="0"/>
          </a:p>
        </p:txBody>
      </p:sp>
      <p:sp>
        <p:nvSpPr>
          <p:cNvPr id="85" name="fb-sv-re"/>
          <p:cNvSpPr/>
          <p:nvPr/>
        </p:nvSpPr>
        <p:spPr>
          <a:xfrm>
            <a:off x="8229600" y="4526280"/>
            <a:ext cx="32278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8FB0D3"/>
            </a:solidFill>
            <a:prstDash val="dash"/>
          </a:ln>
        </p:spPr>
      </p:sp>
      <p:sp>
        <p:nvSpPr>
          <p:cNvPr id="86" name="fb-sv-re-t"/>
          <p:cNvSpPr txBox="1"/>
          <p:nvPr/>
        </p:nvSpPr>
        <p:spPr>
          <a:xfrm>
            <a:off x="8366760" y="4526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</a:rPr>
              <a:t>고쳐서 다시 낼 수 있어요</a:t>
            </a:r>
            <a:endParaRPr lang="en-US" sz="1100" dirty="0"/>
          </a:p>
        </p:txBody>
      </p:sp>
      <p:sp>
        <p:nvSpPr>
          <p:cNvPr id="87" name="fb-sv-btn"/>
          <p:cNvSpPr/>
          <p:nvPr/>
        </p:nvSpPr>
        <p:spPr>
          <a:xfrm>
            <a:off x="10405872" y="47548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8" name="fb-sv-btn-t"/>
          <p:cNvSpPr txBox="1"/>
          <p:nvPr/>
        </p:nvSpPr>
        <p:spPr>
          <a:xfrm>
            <a:off x="10405872" y="4754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다시 제출</a:t>
            </a:r>
            <a:endParaRPr lang="en-US" sz="1000" dirty="0"/>
          </a:p>
        </p:txBody>
      </p:sp>
      <p:sp>
        <p:nvSpPr>
          <p:cNvPr id="89" name="fb-sv-cap"/>
          <p:cNvSpPr txBox="1"/>
          <p:nvPr/>
        </p:nvSpPr>
        <p:spPr>
          <a:xfrm>
            <a:off x="8229600" y="536752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재제출을 받는 활동에만 보임</a:t>
            </a:r>
            <a:endParaRPr lang="en-US" sz="1000" dirty="0"/>
          </a:p>
        </p:txBody>
      </p:sp>
      <p:sp>
        <p:nvSpPr>
          <p:cNvPr id="90" name="fb-note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피드백 버튼은 항상 3개 고정 · 문구는 교사가 바꿀 수 있음 · AI 초안은 교사가 본 뒤에 전송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사용하고: 다시 제출할 경우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7261412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12 / 17</a:t>
            </a:r>
            <a:endParaRPr lang="en-US" sz="1100" dirty="0"/>
          </a:p>
        </p:txBody>
      </p:sp>
      <p:sp>
        <p:nvSpPr>
          <p:cNvPr id="6" name="rs-badge"/>
          <p:cNvSpPr/>
          <p:nvPr/>
        </p:nvSpPr>
        <p:spPr>
          <a:xfrm>
            <a:off x="548640" y="13258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7" name="rs-badge-t"/>
          <p:cNvSpPr txBox="1"/>
          <p:nvPr/>
        </p:nvSpPr>
        <p:spPr>
          <a:xfrm>
            <a:off x="548640" y="13258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재제출을 받는 활동만</a:t>
            </a:r>
            <a:endParaRPr lang="en-US" sz="1300" dirty="0"/>
          </a:p>
        </p:txBody>
      </p:sp>
      <p:sp>
        <p:nvSpPr>
          <p:cNvPr id="8" name="rs-step0"/>
          <p:cNvSpPr/>
          <p:nvPr/>
        </p:nvSpPr>
        <p:spPr>
          <a:xfrm>
            <a:off x="548640" y="192024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E4E7EC"/>
            </a:solidFill>
            <a:prstDash val="solid"/>
          </a:ln>
        </p:spPr>
      </p:sp>
      <p:sp>
        <p:nvSpPr>
          <p:cNvPr id="9" name="rs-head0"/>
          <p:cNvSpPr/>
          <p:nvPr/>
        </p:nvSpPr>
        <p:spPr>
          <a:xfrm>
            <a:off x="548640" y="1920240"/>
            <a:ext cx="3456432" cy="457200"/>
          </a:xfrm>
          <a:prstGeom prst="roundRect">
            <a:avLst>
              <a:gd name="adj" fmla="val 16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rs-ht0"/>
          <p:cNvSpPr txBox="1"/>
          <p:nvPr/>
        </p:nvSpPr>
        <p:spPr>
          <a:xfrm>
            <a:off x="713232" y="19202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① 학생이 고쳐서 다시 제출</a:t>
            </a:r>
            <a:endParaRPr lang="en-US" sz="1500" dirty="0"/>
          </a:p>
        </p:txBody>
      </p:sp>
      <p:sp>
        <p:nvSpPr>
          <p:cNvPr id="11" name="rs-body0"/>
          <p:cNvSpPr txBox="1"/>
          <p:nvPr/>
        </p:nvSpPr>
        <p:spPr>
          <a:xfrm>
            <a:off x="731520" y="24505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피드백에서 표시된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다시 볼 칸만 고친다</a:t>
            </a:r>
            <a:endParaRPr lang="en-US" sz="1300" dirty="0"/>
          </a:p>
        </p:txBody>
      </p:sp>
      <p:sp>
        <p:nvSpPr>
          <p:cNvPr id="12" name="rs-arr0"/>
          <p:cNvSpPr/>
          <p:nvPr/>
        </p:nvSpPr>
        <p:spPr>
          <a:xfrm>
            <a:off x="4096512" y="2423160"/>
            <a:ext cx="182880" cy="292608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3" name="rs-step1"/>
          <p:cNvSpPr/>
          <p:nvPr/>
        </p:nvSpPr>
        <p:spPr>
          <a:xfrm>
            <a:off x="4370832" y="192024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C9DAEC"/>
            </a:solidFill>
            <a:prstDash val="solid"/>
          </a:ln>
        </p:spPr>
      </p:sp>
      <p:sp>
        <p:nvSpPr>
          <p:cNvPr id="14" name="rs-head1"/>
          <p:cNvSpPr/>
          <p:nvPr/>
        </p:nvSpPr>
        <p:spPr>
          <a:xfrm>
            <a:off x="4370832" y="1920240"/>
            <a:ext cx="3456432" cy="457200"/>
          </a:xfrm>
          <a:prstGeom prst="roundRect">
            <a:avLst>
              <a:gd name="adj" fmla="val 16000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5" name="rs-ht1"/>
          <p:cNvSpPr txBox="1"/>
          <p:nvPr/>
        </p:nvSpPr>
        <p:spPr>
          <a:xfrm>
            <a:off x="4535424" y="19202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② 시스템이 다시 확인</a:t>
            </a:r>
            <a:endParaRPr lang="en-US" sz="1500" dirty="0"/>
          </a:p>
        </p:txBody>
      </p:sp>
      <p:sp>
        <p:nvSpPr>
          <p:cNvPr id="16" name="rs-body1"/>
          <p:cNvSpPr txBox="1"/>
          <p:nvPr/>
        </p:nvSpPr>
        <p:spPr>
          <a:xfrm>
            <a:off x="4553712" y="24505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고친 칸을 다시 채점하고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학생 상태를 표시한다</a:t>
            </a:r>
            <a:endParaRPr lang="en-US" sz="1300" dirty="0"/>
          </a:p>
        </p:txBody>
      </p:sp>
      <p:sp>
        <p:nvSpPr>
          <p:cNvPr id="17" name="rs-arr1"/>
          <p:cNvSpPr/>
          <p:nvPr/>
        </p:nvSpPr>
        <p:spPr>
          <a:xfrm>
            <a:off x="7918704" y="2423160"/>
            <a:ext cx="182880" cy="292608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8" name="rs-step2"/>
          <p:cNvSpPr/>
          <p:nvPr/>
        </p:nvSpPr>
        <p:spPr>
          <a:xfrm>
            <a:off x="8193024" y="192024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F1E3B0"/>
            </a:solidFill>
            <a:prstDash val="solid"/>
          </a:ln>
        </p:spPr>
      </p:sp>
      <p:sp>
        <p:nvSpPr>
          <p:cNvPr id="19" name="rs-head2"/>
          <p:cNvSpPr/>
          <p:nvPr/>
        </p:nvSpPr>
        <p:spPr>
          <a:xfrm>
            <a:off x="8193024" y="1920240"/>
            <a:ext cx="3456432" cy="457200"/>
          </a:xfrm>
          <a:prstGeom prst="roundRect">
            <a:avLst>
              <a:gd name="adj" fmla="val 16000"/>
            </a:avLst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20" name="rs-ht2"/>
          <p:cNvSpPr txBox="1"/>
          <p:nvPr/>
        </p:nvSpPr>
        <p:spPr>
          <a:xfrm>
            <a:off x="8357616" y="19202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③ 교사가 마무리 전송</a:t>
            </a:r>
            <a:endParaRPr lang="en-US" sz="1500" dirty="0"/>
          </a:p>
        </p:txBody>
      </p:sp>
      <p:sp>
        <p:nvSpPr>
          <p:cNvPr id="21" name="rs-body2"/>
          <p:cNvSpPr txBox="1"/>
          <p:nvPr/>
        </p:nvSpPr>
        <p:spPr>
          <a:xfrm>
            <a:off x="8375904" y="24505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분홍 학생만 보고 버튼 한 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이 활동 마무리</a:t>
            </a:r>
            <a:endParaRPr lang="en-US" sz="1300" dirty="0"/>
          </a:p>
        </p:txBody>
      </p:sp>
      <p:sp>
        <p:nvSpPr>
          <p:cNvPr id="22" name="rs-st-title"/>
          <p:cNvSpPr txBox="1"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재제출 후 학생 모습 3가지</a:t>
            </a:r>
            <a:endParaRPr lang="en-US" sz="1600" dirty="0"/>
          </a:p>
        </p:txBody>
      </p:sp>
      <p:sp>
        <p:nvSpPr>
          <p:cNvPr id="23" name="rs-s0"/>
          <p:cNvSpPr/>
          <p:nvPr/>
        </p:nvSpPr>
        <p:spPr>
          <a:xfrm>
            <a:off x="548640" y="393192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24" name="rs-sc0"/>
          <p:cNvSpPr/>
          <p:nvPr/>
        </p:nvSpPr>
        <p:spPr>
          <a:xfrm>
            <a:off x="731520" y="409651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25" name="rs-sct0"/>
          <p:cNvSpPr txBox="1"/>
          <p:nvPr/>
        </p:nvSpPr>
        <p:spPr>
          <a:xfrm>
            <a:off x="731520" y="4096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고쳐서 맞음</a:t>
            </a:r>
            <a:endParaRPr lang="en-US" sz="1300" dirty="0"/>
          </a:p>
        </p:txBody>
      </p:sp>
      <p:sp>
        <p:nvSpPr>
          <p:cNvPr id="26" name="rs-sb0"/>
          <p:cNvSpPr txBox="1"/>
          <p:nvPr/>
        </p:nvSpPr>
        <p:spPr>
          <a:xfrm>
            <a:off x="749808" y="457200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피드백이 ‘잘했어요’로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자동으로 바뀐다</a:t>
            </a:r>
            <a:endParaRPr lang="en-US" sz="1300" dirty="0"/>
          </a:p>
        </p:txBody>
      </p:sp>
      <p:sp>
        <p:nvSpPr>
          <p:cNvPr id="27" name="rs-s1"/>
          <p:cNvSpPr/>
          <p:nvPr/>
        </p:nvSpPr>
        <p:spPr>
          <a:xfrm>
            <a:off x="4370832" y="393192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BE3E3"/>
          </a:solidFill>
          <a:ln w="15875">
            <a:solidFill>
              <a:srgbClr val="D9534F"/>
            </a:solidFill>
            <a:prstDash val="solid"/>
          </a:ln>
        </p:spPr>
      </p:sp>
      <p:sp>
        <p:nvSpPr>
          <p:cNvPr id="28" name="rs-sc1"/>
          <p:cNvSpPr/>
          <p:nvPr/>
        </p:nvSpPr>
        <p:spPr>
          <a:xfrm>
            <a:off x="4553712" y="409651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4C7C7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29" name="rs-sct1"/>
          <p:cNvSpPr txBox="1"/>
          <p:nvPr/>
        </p:nvSpPr>
        <p:spPr>
          <a:xfrm>
            <a:off x="4553712" y="4096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고쳤지만 아직</a:t>
            </a:r>
            <a:endParaRPr lang="en-US" sz="1300" dirty="0"/>
          </a:p>
        </p:txBody>
      </p:sp>
      <p:sp>
        <p:nvSpPr>
          <p:cNvPr id="30" name="rs-sb1"/>
          <p:cNvSpPr txBox="1"/>
          <p:nvPr/>
        </p:nvSpPr>
        <p:spPr>
          <a:xfrm>
            <a:off x="4572000" y="457200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분홍으로 표시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교사가 한 번 더 본다</a:t>
            </a:r>
            <a:endParaRPr lang="en-US" sz="1300" dirty="0"/>
          </a:p>
        </p:txBody>
      </p:sp>
      <p:sp>
        <p:nvSpPr>
          <p:cNvPr id="31" name="rs-s2"/>
          <p:cNvSpPr/>
          <p:nvPr/>
        </p:nvSpPr>
        <p:spPr>
          <a:xfrm>
            <a:off x="8193024" y="393192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2F3F5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2" name="rs-sc2"/>
          <p:cNvSpPr/>
          <p:nvPr/>
        </p:nvSpPr>
        <p:spPr>
          <a:xfrm>
            <a:off x="8375904" y="409651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3" name="rs-sct2"/>
          <p:cNvSpPr txBox="1"/>
          <p:nvPr/>
        </p:nvSpPr>
        <p:spPr>
          <a:xfrm>
            <a:off x="8375904" y="40965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안 고침</a:t>
            </a:r>
            <a:endParaRPr lang="en-US" sz="1300" dirty="0"/>
          </a:p>
        </p:txBody>
      </p:sp>
      <p:sp>
        <p:nvSpPr>
          <p:cNvPr id="34" name="rs-sb2"/>
          <p:cNvSpPr txBox="1"/>
          <p:nvPr/>
        </p:nvSpPr>
        <p:spPr>
          <a:xfrm>
            <a:off x="8394192" y="457200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전송 대상에서 빠지고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기록에만 남는다</a:t>
            </a:r>
            <a:endParaRPr lang="en-US" sz="1300" dirty="0"/>
          </a:p>
        </p:txBody>
      </p:sp>
      <p:sp>
        <p:nvSpPr>
          <p:cNvPr id="35" name="rs-note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‘마감 전까지 언제든’이면 마감까지 ①~③ 반복 · 처음 답과 고친 답은 학생별 기록에 함께 남음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사용하고: 수업 관리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7866529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13 / 17</a:t>
            </a:r>
            <a:endParaRPr lang="en-US" sz="1100" dirty="0"/>
          </a:p>
        </p:txBody>
      </p:sp>
      <p:sp>
        <p:nvSpPr>
          <p:cNvPr id="6" name="db-q"/>
          <p:cNvSpPr/>
          <p:nvPr/>
        </p:nvSpPr>
        <p:spPr>
          <a:xfrm>
            <a:off x="548640" y="1325880"/>
            <a:ext cx="79552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8FB0D3"/>
            </a:solidFill>
            <a:prstDash val="solid"/>
          </a:ln>
        </p:spPr>
      </p:sp>
      <p:sp>
        <p:nvSpPr>
          <p:cNvPr id="7" name="db-ai"/>
          <p:cNvSpPr/>
          <p:nvPr/>
        </p:nvSpPr>
        <p:spPr>
          <a:xfrm>
            <a:off x="685800" y="1417320"/>
            <a:ext cx="329184" cy="329184"/>
          </a:xfrm>
          <a:prstGeom prst="ellipse">
            <a:avLst/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8" name="db-ai-t"/>
          <p:cNvSpPr txBox="1"/>
          <p:nvPr/>
        </p:nvSpPr>
        <p:spPr>
          <a:xfrm>
            <a:off x="68580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AI</a:t>
            </a:r>
            <a:endParaRPr lang="en-US" sz="900" dirty="0"/>
          </a:p>
        </p:txBody>
      </p:sp>
      <p:sp>
        <p:nvSpPr>
          <p:cNvPr id="9" name="db-q-t"/>
          <p:cNvSpPr txBox="1"/>
          <p:nvPr/>
        </p:nvSpPr>
        <p:spPr>
          <a:xfrm>
            <a:off x="1143000" y="1325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1반 데이터만 보여줘</a:t>
            </a:r>
            <a:endParaRPr lang="en-US" sz="1400" dirty="0"/>
          </a:p>
        </p:txBody>
      </p:sp>
      <p:sp>
        <p:nvSpPr>
          <p:cNvPr id="10" name="db-q-btn"/>
          <p:cNvSpPr/>
          <p:nvPr/>
        </p:nvSpPr>
        <p:spPr>
          <a:xfrm>
            <a:off x="7635240" y="1399032"/>
            <a:ext cx="777240" cy="356616"/>
          </a:xfrm>
          <a:prstGeom prst="roundRect">
            <a:avLst>
              <a:gd name="adj" fmla="val 4871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db-q-btn-t"/>
          <p:cNvSpPr txBox="1"/>
          <p:nvPr/>
        </p:nvSpPr>
        <p:spPr>
          <a:xfrm>
            <a:off x="7635240" y="139903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보기</a:t>
            </a:r>
            <a:endParaRPr lang="en-US" sz="1100" dirty="0"/>
          </a:p>
        </p:txBody>
      </p:sp>
      <p:sp>
        <p:nvSpPr>
          <p:cNvPr id="12" name="db-rq0"/>
          <p:cNvSpPr/>
          <p:nvPr/>
        </p:nvSpPr>
        <p:spPr>
          <a:xfrm>
            <a:off x="548640" y="193852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3" name="db-rq0-t"/>
          <p:cNvSpPr txBox="1"/>
          <p:nvPr/>
        </p:nvSpPr>
        <p:spPr>
          <a:xfrm>
            <a:off x="548640" y="1938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1반만 보기</a:t>
            </a:r>
            <a:endParaRPr lang="en-US" sz="1000" dirty="0"/>
          </a:p>
        </p:txBody>
      </p:sp>
      <p:sp>
        <p:nvSpPr>
          <p:cNvPr id="14" name="db-rq1"/>
          <p:cNvSpPr/>
          <p:nvPr/>
        </p:nvSpPr>
        <p:spPr>
          <a:xfrm>
            <a:off x="1664208" y="193852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5" name="db-rq1-t"/>
          <p:cNvSpPr txBox="1"/>
          <p:nvPr/>
        </p:nvSpPr>
        <p:spPr>
          <a:xfrm>
            <a:off x="1664208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피드백 안 보낸 수업</a:t>
            </a:r>
            <a:endParaRPr lang="en-US" sz="1000" dirty="0"/>
          </a:p>
        </p:txBody>
      </p:sp>
      <p:sp>
        <p:nvSpPr>
          <p:cNvPr id="16" name="db-rq2"/>
          <p:cNvSpPr/>
          <p:nvPr/>
        </p:nvSpPr>
        <p:spPr>
          <a:xfrm>
            <a:off x="3374136" y="193852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7" name="db-rq2-t"/>
          <p:cNvSpPr txBox="1"/>
          <p:nvPr/>
        </p:nvSpPr>
        <p:spPr>
          <a:xfrm>
            <a:off x="3374136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자주 틀린 칸 모아 보기</a:t>
            </a:r>
            <a:endParaRPr lang="en-US" sz="1000" dirty="0"/>
          </a:p>
        </p:txBody>
      </p:sp>
      <p:sp>
        <p:nvSpPr>
          <p:cNvPr id="18" name="db-rq3"/>
          <p:cNvSpPr/>
          <p:nvPr/>
        </p:nvSpPr>
        <p:spPr>
          <a:xfrm>
            <a:off x="5266944" y="193852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DCE1E8"/>
            </a:solidFill>
            <a:prstDash val="solid"/>
          </a:ln>
        </p:spPr>
      </p:sp>
      <p:sp>
        <p:nvSpPr>
          <p:cNvPr id="19" name="db-rq3-t"/>
          <p:cNvSpPr txBox="1"/>
          <p:nvPr/>
        </p:nvSpPr>
        <p:spPr>
          <a:xfrm>
            <a:off x="5266944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3"/>
                </a:solidFill>
              </a:rPr>
              <a:t>김○○ 기록 보기</a:t>
            </a:r>
            <a:endParaRPr lang="en-US" sz="1000" dirty="0"/>
          </a:p>
        </p:txBody>
      </p:sp>
      <p:sp>
        <p:nvSpPr>
          <p:cNvPr id="20" name="db-a"/>
          <p:cNvSpPr/>
          <p:nvPr/>
        </p:nvSpPr>
        <p:spPr>
          <a:xfrm>
            <a:off x="548640" y="2423160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21" name="db-a-t"/>
          <p:cNvSpPr txBox="1"/>
          <p:nvPr/>
        </p:nvSpPr>
        <p:spPr>
          <a:xfrm>
            <a:off x="73152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① 반별 결과</a:t>
            </a:r>
            <a:endParaRPr lang="en-US" sz="1500" dirty="0"/>
          </a:p>
        </p:txBody>
      </p:sp>
      <p:sp>
        <p:nvSpPr>
          <p:cNvPr id="22" name="db-a-f"/>
          <p:cNvSpPr/>
          <p:nvPr/>
        </p:nvSpPr>
        <p:spPr>
          <a:xfrm>
            <a:off x="3017520" y="25603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2DDF0"/>
          </a:solidFill>
          <a:ln w="9525">
            <a:solidFill>
              <a:srgbClr val="E2DDF0"/>
            </a:solidFill>
            <a:prstDash val="solid"/>
          </a:ln>
        </p:spPr>
      </p:sp>
      <p:sp>
        <p:nvSpPr>
          <p:cNvPr id="23" name="db-a-f-t"/>
          <p:cNvSpPr txBox="1"/>
          <p:nvPr/>
        </p:nvSpPr>
        <p:spPr>
          <a:xfrm>
            <a:off x="301752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1반 ✕</a:t>
            </a:r>
            <a:endParaRPr lang="en-US" sz="1000" dirty="0"/>
          </a:p>
        </p:txBody>
      </p:sp>
      <p:sp>
        <p:nvSpPr>
          <p:cNvPr id="24" name="db-a-h1"/>
          <p:cNvSpPr txBox="1"/>
          <p:nvPr/>
        </p:nvSpPr>
        <p:spPr>
          <a:xfrm>
            <a:off x="7315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활동</a:t>
            </a:r>
            <a:endParaRPr lang="en-US" sz="1000" dirty="0"/>
          </a:p>
        </p:txBody>
      </p:sp>
      <p:sp>
        <p:nvSpPr>
          <p:cNvPr id="25" name="db-a-h2"/>
          <p:cNvSpPr txBox="1"/>
          <p:nvPr/>
        </p:nvSpPr>
        <p:spPr>
          <a:xfrm>
            <a:off x="242316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제출</a:t>
            </a:r>
            <a:endParaRPr lang="en-US" sz="1000" dirty="0"/>
          </a:p>
        </p:txBody>
      </p:sp>
      <p:sp>
        <p:nvSpPr>
          <p:cNvPr id="26" name="db-a-h3"/>
          <p:cNvSpPr txBox="1"/>
          <p:nvPr/>
        </p:nvSpPr>
        <p:spPr>
          <a:xfrm>
            <a:off x="310896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자주 틀린 칸</a:t>
            </a:r>
            <a:endParaRPr lang="en-US" sz="1000" dirty="0"/>
          </a:p>
        </p:txBody>
      </p:sp>
      <p:sp>
        <p:nvSpPr>
          <p:cNvPr id="27" name="db-a-r0"/>
          <p:cNvSpPr/>
          <p:nvPr/>
        </p:nvSpPr>
        <p:spPr>
          <a:xfrm>
            <a:off x="685800" y="3291840"/>
            <a:ext cx="3611880" cy="530352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8" name="db-a-n0"/>
          <p:cNvSpPr txBox="1"/>
          <p:nvPr/>
        </p:nvSpPr>
        <p:spPr>
          <a:xfrm>
            <a:off x="804672" y="32918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입장료 계산하기</a:t>
            </a:r>
            <a:endParaRPr lang="en-US" sz="1100" dirty="0"/>
          </a:p>
        </p:txBody>
      </p:sp>
      <p:sp>
        <p:nvSpPr>
          <p:cNvPr id="29" name="db-a-s0"/>
          <p:cNvSpPr txBox="1"/>
          <p:nvPr/>
        </p:nvSpPr>
        <p:spPr>
          <a:xfrm>
            <a:off x="2423160" y="329184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22/24</a:t>
            </a:r>
            <a:endParaRPr lang="en-US" sz="1100" dirty="0"/>
          </a:p>
        </p:txBody>
      </p:sp>
      <p:sp>
        <p:nvSpPr>
          <p:cNvPr id="30" name="db-a-w0"/>
          <p:cNvSpPr/>
          <p:nvPr/>
        </p:nvSpPr>
        <p:spPr>
          <a:xfrm>
            <a:off x="3246120" y="341985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C7C7"/>
          </a:solidFill>
          <a:ln w="9525">
            <a:solidFill>
              <a:srgbClr val="F4C7C7"/>
            </a:solidFill>
            <a:prstDash val="solid"/>
          </a:ln>
        </p:spPr>
      </p:sp>
      <p:sp>
        <p:nvSpPr>
          <p:cNvPr id="31" name="db-a-w0-t"/>
          <p:cNvSpPr txBox="1"/>
          <p:nvPr/>
        </p:nvSpPr>
        <p:spPr>
          <a:xfrm>
            <a:off x="3246120" y="3419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문항 2</a:t>
            </a:r>
            <a:endParaRPr lang="en-US" sz="1000" dirty="0"/>
          </a:p>
        </p:txBody>
      </p:sp>
      <p:sp>
        <p:nvSpPr>
          <p:cNvPr id="32" name="db-a-r1"/>
          <p:cNvSpPr/>
          <p:nvPr/>
        </p:nvSpPr>
        <p:spPr>
          <a:xfrm>
            <a:off x="685800" y="3950208"/>
            <a:ext cx="3611880" cy="530352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db-a-n1"/>
          <p:cNvSpPr txBox="1"/>
          <p:nvPr/>
        </p:nvSpPr>
        <p:spPr>
          <a:xfrm>
            <a:off x="804672" y="39502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조건문 예측하기</a:t>
            </a:r>
            <a:endParaRPr lang="en-US" sz="1100" dirty="0"/>
          </a:p>
        </p:txBody>
      </p:sp>
      <p:sp>
        <p:nvSpPr>
          <p:cNvPr id="34" name="db-a-s1"/>
          <p:cNvSpPr txBox="1"/>
          <p:nvPr/>
        </p:nvSpPr>
        <p:spPr>
          <a:xfrm>
            <a:off x="2423160" y="39502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24/24</a:t>
            </a:r>
            <a:endParaRPr lang="en-US" sz="1100" dirty="0"/>
          </a:p>
        </p:txBody>
      </p:sp>
      <p:sp>
        <p:nvSpPr>
          <p:cNvPr id="35" name="db-a-w1"/>
          <p:cNvSpPr/>
          <p:nvPr/>
        </p:nvSpPr>
        <p:spPr>
          <a:xfrm>
            <a:off x="3246120" y="407822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C7C7"/>
          </a:solidFill>
          <a:ln w="9525">
            <a:solidFill>
              <a:srgbClr val="F4C7C7"/>
            </a:solidFill>
            <a:prstDash val="solid"/>
          </a:ln>
        </p:spPr>
      </p:sp>
      <p:sp>
        <p:nvSpPr>
          <p:cNvPr id="36" name="db-a-w1-t"/>
          <p:cNvSpPr txBox="1"/>
          <p:nvPr/>
        </p:nvSpPr>
        <p:spPr>
          <a:xfrm>
            <a:off x="3246120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문항 3</a:t>
            </a:r>
            <a:endParaRPr lang="en-US" sz="1000" dirty="0"/>
          </a:p>
        </p:txBody>
      </p:sp>
      <p:sp>
        <p:nvSpPr>
          <p:cNvPr id="37" name="db-a-r2"/>
          <p:cNvSpPr/>
          <p:nvPr/>
        </p:nvSpPr>
        <p:spPr>
          <a:xfrm>
            <a:off x="685800" y="4608576"/>
            <a:ext cx="3611880" cy="530352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8" name="db-a-n2"/>
          <p:cNvSpPr txBox="1"/>
          <p:nvPr/>
        </p:nvSpPr>
        <p:spPr>
          <a:xfrm>
            <a:off x="804672" y="46085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반복문 따라가기</a:t>
            </a:r>
            <a:endParaRPr lang="en-US" sz="1100" dirty="0"/>
          </a:p>
        </p:txBody>
      </p:sp>
      <p:sp>
        <p:nvSpPr>
          <p:cNvPr id="39" name="db-a-s2"/>
          <p:cNvSpPr txBox="1"/>
          <p:nvPr/>
        </p:nvSpPr>
        <p:spPr>
          <a:xfrm>
            <a:off x="2423160" y="46085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18/24</a:t>
            </a:r>
            <a:endParaRPr lang="en-US" sz="1100" dirty="0"/>
          </a:p>
        </p:txBody>
      </p:sp>
      <p:sp>
        <p:nvSpPr>
          <p:cNvPr id="40" name="db-a-w2"/>
          <p:cNvSpPr txBox="1"/>
          <p:nvPr/>
        </p:nvSpPr>
        <p:spPr>
          <a:xfrm>
            <a:off x="3108960" y="4608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2"/>
                </a:solidFill>
              </a:rPr>
              <a:t>–</a:t>
            </a:r>
            <a:endParaRPr lang="en-US" sz="1100" dirty="0"/>
          </a:p>
        </p:txBody>
      </p:sp>
      <p:sp>
        <p:nvSpPr>
          <p:cNvPr id="41" name="db-a-more"/>
          <p:cNvSpPr txBox="1"/>
          <p:nvPr/>
        </p:nvSpPr>
        <p:spPr>
          <a:xfrm>
            <a:off x="731520" y="5303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눌러서 학생별로 보기 ▸</a:t>
            </a:r>
            <a:endParaRPr lang="en-US" sz="1000" dirty="0"/>
          </a:p>
        </p:txBody>
      </p:sp>
      <p:sp>
        <p:nvSpPr>
          <p:cNvPr id="42" name="db-b"/>
          <p:cNvSpPr/>
          <p:nvPr/>
        </p:nvSpPr>
        <p:spPr>
          <a:xfrm>
            <a:off x="4617720" y="2423160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43" name="db-b-t"/>
          <p:cNvSpPr txBox="1"/>
          <p:nvPr/>
        </p:nvSpPr>
        <p:spPr>
          <a:xfrm>
            <a:off x="48006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② 학생별 기록</a:t>
            </a:r>
            <a:endParaRPr lang="en-US" sz="1500" dirty="0"/>
          </a:p>
        </p:txBody>
      </p:sp>
      <p:sp>
        <p:nvSpPr>
          <p:cNvPr id="44" name="db-b-f"/>
          <p:cNvSpPr/>
          <p:nvPr/>
        </p:nvSpPr>
        <p:spPr>
          <a:xfrm>
            <a:off x="7086600" y="25603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2DDF0"/>
          </a:solidFill>
          <a:ln w="9525">
            <a:solidFill>
              <a:srgbClr val="E2DDF0"/>
            </a:solidFill>
            <a:prstDash val="solid"/>
          </a:ln>
        </p:spPr>
      </p:sp>
      <p:sp>
        <p:nvSpPr>
          <p:cNvPr id="45" name="db-b-f-t"/>
          <p:cNvSpPr txBox="1"/>
          <p:nvPr/>
        </p:nvSpPr>
        <p:spPr>
          <a:xfrm>
            <a:off x="7086600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</a:rPr>
              <a:t>1반 · 김○○</a:t>
            </a:r>
            <a:endParaRPr lang="en-US" sz="1000" dirty="0"/>
          </a:p>
        </p:txBody>
      </p:sp>
      <p:sp>
        <p:nvSpPr>
          <p:cNvPr id="46" name="db-b-r0"/>
          <p:cNvSpPr/>
          <p:nvPr/>
        </p:nvSpPr>
        <p:spPr>
          <a:xfrm>
            <a:off x="4754880" y="3017520"/>
            <a:ext cx="3611880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7" name="db-b-n0"/>
          <p:cNvSpPr txBox="1"/>
          <p:nvPr/>
        </p:nvSpPr>
        <p:spPr>
          <a:xfrm>
            <a:off x="4873752" y="3054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입장료 계산하기</a:t>
            </a:r>
            <a:endParaRPr lang="en-US" sz="1100" dirty="0"/>
          </a:p>
        </p:txBody>
      </p:sp>
      <p:sp>
        <p:nvSpPr>
          <p:cNvPr id="48" name="db-b-s0"/>
          <p:cNvSpPr/>
          <p:nvPr/>
        </p:nvSpPr>
        <p:spPr>
          <a:xfrm>
            <a:off x="4873752" y="332841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D3E7DC"/>
          </a:solidFill>
          <a:ln w="9525">
            <a:solidFill>
              <a:srgbClr val="D3E7DC"/>
            </a:solidFill>
            <a:prstDash val="solid"/>
          </a:ln>
        </p:spPr>
      </p:sp>
      <p:sp>
        <p:nvSpPr>
          <p:cNvPr id="49" name="db-b-s0-t"/>
          <p:cNvSpPr txBox="1"/>
          <p:nvPr/>
        </p:nvSpPr>
        <p:spPr>
          <a:xfrm>
            <a:off x="4873752" y="33284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거의 다 왔어요 → 잘했어요</a:t>
            </a:r>
            <a:endParaRPr lang="en-US" sz="900" dirty="0"/>
          </a:p>
        </p:txBody>
      </p:sp>
      <p:sp>
        <p:nvSpPr>
          <p:cNvPr id="50" name="db-b-v0"/>
          <p:cNvSpPr txBox="1"/>
          <p:nvPr/>
        </p:nvSpPr>
        <p:spPr>
          <a:xfrm>
            <a:off x="7452360" y="301752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답 보기 ▸</a:t>
            </a:r>
            <a:endParaRPr lang="en-US" sz="1000" dirty="0"/>
          </a:p>
        </p:txBody>
      </p:sp>
      <p:sp>
        <p:nvSpPr>
          <p:cNvPr id="51" name="db-b-r1"/>
          <p:cNvSpPr/>
          <p:nvPr/>
        </p:nvSpPr>
        <p:spPr>
          <a:xfrm>
            <a:off x="4754880" y="3749040"/>
            <a:ext cx="3611880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2" name="db-b-n1"/>
          <p:cNvSpPr txBox="1"/>
          <p:nvPr/>
        </p:nvSpPr>
        <p:spPr>
          <a:xfrm>
            <a:off x="4873752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조건문 예측하기</a:t>
            </a:r>
            <a:endParaRPr lang="en-US" sz="1100" dirty="0"/>
          </a:p>
        </p:txBody>
      </p:sp>
      <p:sp>
        <p:nvSpPr>
          <p:cNvPr id="53" name="db-b-s1"/>
          <p:cNvSpPr/>
          <p:nvPr/>
        </p:nvSpPr>
        <p:spPr>
          <a:xfrm>
            <a:off x="4873752" y="405993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3E7DC"/>
          </a:solidFill>
          <a:ln w="9525">
            <a:solidFill>
              <a:srgbClr val="D3E7DC"/>
            </a:solidFill>
            <a:prstDash val="solid"/>
          </a:ln>
        </p:spPr>
      </p:sp>
      <p:sp>
        <p:nvSpPr>
          <p:cNvPr id="54" name="db-b-s1-t"/>
          <p:cNvSpPr txBox="1"/>
          <p:nvPr/>
        </p:nvSpPr>
        <p:spPr>
          <a:xfrm>
            <a:off x="4873752" y="40599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잘했어요</a:t>
            </a:r>
            <a:endParaRPr lang="en-US" sz="900" dirty="0"/>
          </a:p>
        </p:txBody>
      </p:sp>
      <p:sp>
        <p:nvSpPr>
          <p:cNvPr id="55" name="db-b-v1"/>
          <p:cNvSpPr txBox="1"/>
          <p:nvPr/>
        </p:nvSpPr>
        <p:spPr>
          <a:xfrm>
            <a:off x="7452360" y="374904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답 보기 ▸</a:t>
            </a:r>
            <a:endParaRPr lang="en-US" sz="1000" dirty="0"/>
          </a:p>
        </p:txBody>
      </p:sp>
      <p:sp>
        <p:nvSpPr>
          <p:cNvPr id="56" name="db-b-r2"/>
          <p:cNvSpPr/>
          <p:nvPr/>
        </p:nvSpPr>
        <p:spPr>
          <a:xfrm>
            <a:off x="4754880" y="4480560"/>
            <a:ext cx="3611880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7" name="db-b-n2"/>
          <p:cNvSpPr txBox="1"/>
          <p:nvPr/>
        </p:nvSpPr>
        <p:spPr>
          <a:xfrm>
            <a:off x="4873752" y="4517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반복문 따라가기</a:t>
            </a:r>
            <a:endParaRPr lang="en-US" sz="1100" dirty="0"/>
          </a:p>
        </p:txBody>
      </p:sp>
      <p:sp>
        <p:nvSpPr>
          <p:cNvPr id="58" name="db-b-s2"/>
          <p:cNvSpPr/>
          <p:nvPr/>
        </p:nvSpPr>
        <p:spPr>
          <a:xfrm>
            <a:off x="4873752" y="479145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C7C7"/>
          </a:solidFill>
          <a:ln w="9525">
            <a:solidFill>
              <a:srgbClr val="F4C7C7"/>
            </a:solidFill>
            <a:prstDash val="solid"/>
          </a:ln>
        </p:spPr>
      </p:sp>
      <p:sp>
        <p:nvSpPr>
          <p:cNvPr id="59" name="db-b-s2-t"/>
          <p:cNvSpPr txBox="1"/>
          <p:nvPr/>
        </p:nvSpPr>
        <p:spPr>
          <a:xfrm>
            <a:off x="4873752" y="47914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한 번 더 살펴봐요</a:t>
            </a:r>
            <a:endParaRPr lang="en-US" sz="900" dirty="0"/>
          </a:p>
        </p:txBody>
      </p:sp>
      <p:sp>
        <p:nvSpPr>
          <p:cNvPr id="60" name="db-b-v2"/>
          <p:cNvSpPr txBox="1"/>
          <p:nvPr/>
        </p:nvSpPr>
        <p:spPr>
          <a:xfrm>
            <a:off x="7452360" y="448056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답 보기 ▸</a:t>
            </a:r>
            <a:endParaRPr lang="en-US" sz="1000" dirty="0"/>
          </a:p>
        </p:txBody>
      </p:sp>
      <p:sp>
        <p:nvSpPr>
          <p:cNvPr id="61" name="db-b-more"/>
          <p:cNvSpPr txBox="1"/>
          <p:nvPr/>
        </p:nvSpPr>
        <p:spPr>
          <a:xfrm>
            <a:off x="4800600" y="5303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처음 답 · 고친 답 · 받은 피드백이 함께 남음</a:t>
            </a:r>
            <a:endParaRPr lang="en-US" sz="1000" dirty="0"/>
          </a:p>
        </p:txBody>
      </p:sp>
      <p:sp>
        <p:nvSpPr>
          <p:cNvPr id="62" name="db-how"/>
          <p:cNvSpPr/>
          <p:nvPr/>
        </p:nvSpPr>
        <p:spPr>
          <a:xfrm>
            <a:off x="8686800" y="1325880"/>
            <a:ext cx="2953512" cy="4343400"/>
          </a:xfrm>
          <a:prstGeom prst="roundRect">
            <a:avLst>
              <a:gd name="adj" fmla="val 3096"/>
            </a:avLst>
          </a:prstGeom>
          <a:solidFill>
            <a:srgbClr val="F8F6FC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63" name="db-how-t"/>
          <p:cNvSpPr txBox="1"/>
          <p:nvPr/>
        </p:nvSpPr>
        <p:spPr>
          <a:xfrm>
            <a:off x="8869680" y="141732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AI가 하는 일</a:t>
            </a:r>
            <a:endParaRPr lang="en-US" sz="1500" dirty="0"/>
          </a:p>
        </p:txBody>
      </p:sp>
      <p:sp>
        <p:nvSpPr>
          <p:cNvPr id="64" name="db-h0"/>
          <p:cNvSpPr/>
          <p:nvPr/>
        </p:nvSpPr>
        <p:spPr>
          <a:xfrm>
            <a:off x="8869680" y="1920240"/>
            <a:ext cx="25877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65" name="db-h0-t"/>
          <p:cNvSpPr txBox="1"/>
          <p:nvPr/>
        </p:nvSpPr>
        <p:spPr>
          <a:xfrm>
            <a:off x="8988552" y="197510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① 질문 받기</a:t>
            </a:r>
            <a:endParaRPr lang="en-US" sz="1200" dirty="0"/>
          </a:p>
        </p:txBody>
      </p:sp>
      <p:sp>
        <p:nvSpPr>
          <p:cNvPr id="66" name="db-h0-d"/>
          <p:cNvSpPr txBox="1"/>
          <p:nvPr/>
        </p:nvSpPr>
        <p:spPr>
          <a:xfrm>
            <a:off x="8988552" y="226771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“1반 데이터만 보여줘”</a:t>
            </a:r>
            <a:endParaRPr lang="en-US" sz="1100" dirty="0"/>
          </a:p>
        </p:txBody>
      </p:sp>
      <p:sp>
        <p:nvSpPr>
          <p:cNvPr id="67" name="db-ha0"/>
          <p:cNvSpPr/>
          <p:nvPr/>
        </p:nvSpPr>
        <p:spPr>
          <a:xfrm>
            <a:off x="10072116" y="2624328"/>
            <a:ext cx="182880" cy="182880"/>
          </a:xfrm>
          <a:prstGeom prst="down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68" name="db-h1"/>
          <p:cNvSpPr/>
          <p:nvPr/>
        </p:nvSpPr>
        <p:spPr>
          <a:xfrm>
            <a:off x="8869680" y="2834640"/>
            <a:ext cx="25877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69" name="db-h1-t"/>
          <p:cNvSpPr txBox="1"/>
          <p:nvPr/>
        </p:nvSpPr>
        <p:spPr>
          <a:xfrm>
            <a:off x="8988552" y="288950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② 조건으로 바꾸기</a:t>
            </a:r>
            <a:endParaRPr lang="en-US" sz="1200" dirty="0"/>
          </a:p>
        </p:txBody>
      </p:sp>
      <p:sp>
        <p:nvSpPr>
          <p:cNvPr id="70" name="db-h1-d"/>
          <p:cNvSpPr txBox="1"/>
          <p:nvPr/>
        </p:nvSpPr>
        <p:spPr>
          <a:xfrm>
            <a:off x="8988552" y="318211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반 = 1반</a:t>
            </a:r>
            <a:endParaRPr lang="en-US" sz="1100" dirty="0"/>
          </a:p>
        </p:txBody>
      </p:sp>
      <p:sp>
        <p:nvSpPr>
          <p:cNvPr id="71" name="db-ha1"/>
          <p:cNvSpPr/>
          <p:nvPr/>
        </p:nvSpPr>
        <p:spPr>
          <a:xfrm>
            <a:off x="10072116" y="3538728"/>
            <a:ext cx="182880" cy="182880"/>
          </a:xfrm>
          <a:prstGeom prst="down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72" name="db-h2"/>
          <p:cNvSpPr/>
          <p:nvPr/>
        </p:nvSpPr>
        <p:spPr>
          <a:xfrm>
            <a:off x="8869680" y="3749040"/>
            <a:ext cx="25877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3" name="db-h2-t"/>
          <p:cNvSpPr txBox="1"/>
          <p:nvPr/>
        </p:nvSpPr>
        <p:spPr>
          <a:xfrm>
            <a:off x="8988552" y="380390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③ 두 화면에 적용</a:t>
            </a:r>
            <a:endParaRPr lang="en-US" sz="1200" dirty="0"/>
          </a:p>
        </p:txBody>
      </p:sp>
      <p:sp>
        <p:nvSpPr>
          <p:cNvPr id="74" name="db-h2-d"/>
          <p:cNvSpPr txBox="1"/>
          <p:nvPr/>
        </p:nvSpPr>
        <p:spPr>
          <a:xfrm>
            <a:off x="8988552" y="409651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반별 결과 · 학생별 기록</a:t>
            </a:r>
            <a:endParaRPr lang="en-US" sz="1100" dirty="0"/>
          </a:p>
        </p:txBody>
      </p:sp>
      <p:sp>
        <p:nvSpPr>
          <p:cNvPr id="75" name="db-ha2"/>
          <p:cNvSpPr/>
          <p:nvPr/>
        </p:nvSpPr>
        <p:spPr>
          <a:xfrm>
            <a:off x="10072116" y="4453128"/>
            <a:ext cx="182880" cy="182880"/>
          </a:xfrm>
          <a:prstGeom prst="down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76" name="db-h3"/>
          <p:cNvSpPr/>
          <p:nvPr/>
        </p:nvSpPr>
        <p:spPr>
          <a:xfrm>
            <a:off x="8869680" y="4663440"/>
            <a:ext cx="25877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6EE"/>
            </a:solidFill>
            <a:prstDash val="solid"/>
          </a:ln>
        </p:spPr>
      </p:sp>
      <p:sp>
        <p:nvSpPr>
          <p:cNvPr id="77" name="db-h3-t"/>
          <p:cNvSpPr txBox="1"/>
          <p:nvPr/>
        </p:nvSpPr>
        <p:spPr>
          <a:xfrm>
            <a:off x="8988552" y="471830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④ 내 화면으로 고정</a:t>
            </a:r>
            <a:endParaRPr lang="en-US" sz="1200" dirty="0"/>
          </a:p>
        </p:txBody>
      </p:sp>
      <p:sp>
        <p:nvSpPr>
          <p:cNvPr id="78" name="db-h3-d"/>
          <p:cNvSpPr txBox="1"/>
          <p:nvPr/>
        </p:nvSpPr>
        <p:spPr>
          <a:xfrm>
            <a:off x="8988552" y="501091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다음에 열어도 이 화면</a:t>
            </a:r>
            <a:endParaRPr lang="en-US" sz="1100" dirty="0"/>
          </a:p>
        </p:txBody>
      </p:sp>
      <p:sp>
        <p:nvSpPr>
          <p:cNvPr id="79" name="db-note"/>
          <p:cNvSpPr txBox="1"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AI는 보여 줄 화면과 조건만 고르고, 숫자는 실제 기록에서 가져온다 · 선생님마다 고정한 화면이 달라진다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학생 흐름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8471647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14 / 17</a:t>
            </a:r>
            <a:endParaRPr lang="en-US" sz="1100" dirty="0"/>
          </a:p>
        </p:txBody>
      </p:sp>
      <p:sp>
        <p:nvSpPr>
          <p:cNvPr id="6" name="sf-b0"/>
          <p:cNvSpPr/>
          <p:nvPr/>
        </p:nvSpPr>
        <p:spPr>
          <a:xfrm>
            <a:off x="548640" y="2240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9DAEC"/>
            </a:solidFill>
            <a:prstDash val="solid"/>
          </a:ln>
        </p:spPr>
      </p:sp>
      <p:sp>
        <p:nvSpPr>
          <p:cNvPr id="7" name="sf-n0"/>
          <p:cNvSpPr/>
          <p:nvPr/>
        </p:nvSpPr>
        <p:spPr>
          <a:xfrm>
            <a:off x="1325880" y="2377440"/>
            <a:ext cx="457200" cy="457200"/>
          </a:xfrm>
          <a:prstGeom prst="ellipse">
            <a:avLst/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8" name="sf-nt0"/>
          <p:cNvSpPr txBox="1"/>
          <p:nvPr/>
        </p:nvSpPr>
        <p:spPr>
          <a:xfrm>
            <a:off x="13258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f-t0"/>
          <p:cNvSpPr txBox="1"/>
          <p:nvPr/>
        </p:nvSpPr>
        <p:spPr>
          <a:xfrm>
            <a:off x="548640" y="2898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접속</a:t>
            </a:r>
            <a:endParaRPr lang="en-US" sz="1700" dirty="0"/>
          </a:p>
        </p:txBody>
      </p:sp>
      <p:sp>
        <p:nvSpPr>
          <p:cNvPr id="10" name="sf-d0"/>
          <p:cNvSpPr txBox="1"/>
          <p:nvPr/>
        </p:nvSpPr>
        <p:spPr>
          <a:xfrm>
            <a:off x="54864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링크 · QR · 수업 코드</a:t>
            </a:r>
            <a:endParaRPr lang="en-US" sz="1100" dirty="0"/>
          </a:p>
        </p:txBody>
      </p:sp>
      <p:sp>
        <p:nvSpPr>
          <p:cNvPr id="11" name="sf-a0"/>
          <p:cNvSpPr/>
          <p:nvPr/>
        </p:nvSpPr>
        <p:spPr>
          <a:xfrm>
            <a:off x="2651760" y="2788920"/>
            <a:ext cx="228600" cy="27432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2" name="sf-b1"/>
          <p:cNvSpPr/>
          <p:nvPr/>
        </p:nvSpPr>
        <p:spPr>
          <a:xfrm>
            <a:off x="2971800" y="2240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9DAEC"/>
            </a:solidFill>
            <a:prstDash val="solid"/>
          </a:ln>
        </p:spPr>
      </p:sp>
      <p:sp>
        <p:nvSpPr>
          <p:cNvPr id="13" name="sf-n1"/>
          <p:cNvSpPr/>
          <p:nvPr/>
        </p:nvSpPr>
        <p:spPr>
          <a:xfrm>
            <a:off x="3749040" y="2377440"/>
            <a:ext cx="457200" cy="457200"/>
          </a:xfrm>
          <a:prstGeom prst="ellipse">
            <a:avLst/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14" name="sf-nt1"/>
          <p:cNvSpPr txBox="1"/>
          <p:nvPr/>
        </p:nvSpPr>
        <p:spPr>
          <a:xfrm>
            <a:off x="37490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f-t1"/>
          <p:cNvSpPr txBox="1"/>
          <p:nvPr/>
        </p:nvSpPr>
        <p:spPr>
          <a:xfrm>
            <a:off x="2971800" y="2898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풀기</a:t>
            </a:r>
            <a:endParaRPr lang="en-US" sz="1700" dirty="0"/>
          </a:p>
        </p:txBody>
      </p:sp>
      <p:sp>
        <p:nvSpPr>
          <p:cNvPr id="16" name="sf-d1"/>
          <p:cNvSpPr txBox="1"/>
          <p:nvPr/>
        </p:nvSpPr>
        <p:spPr>
          <a:xfrm>
            <a:off x="297180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막히면 힌트 1단계씩</a:t>
            </a:r>
            <a:endParaRPr lang="en-US" sz="1100" dirty="0"/>
          </a:p>
        </p:txBody>
      </p:sp>
      <p:sp>
        <p:nvSpPr>
          <p:cNvPr id="17" name="sf-a1"/>
          <p:cNvSpPr/>
          <p:nvPr/>
        </p:nvSpPr>
        <p:spPr>
          <a:xfrm>
            <a:off x="5074920" y="2788920"/>
            <a:ext cx="228600" cy="27432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18" name="sf-b2"/>
          <p:cNvSpPr/>
          <p:nvPr/>
        </p:nvSpPr>
        <p:spPr>
          <a:xfrm>
            <a:off x="5394960" y="2240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9DAEC"/>
            </a:solidFill>
            <a:prstDash val="solid"/>
          </a:ln>
        </p:spPr>
      </p:sp>
      <p:sp>
        <p:nvSpPr>
          <p:cNvPr id="19" name="sf-n2"/>
          <p:cNvSpPr/>
          <p:nvPr/>
        </p:nvSpPr>
        <p:spPr>
          <a:xfrm>
            <a:off x="6172200" y="2377440"/>
            <a:ext cx="457200" cy="457200"/>
          </a:xfrm>
          <a:prstGeom prst="ellipse">
            <a:avLst/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20" name="sf-nt2"/>
          <p:cNvSpPr txBox="1"/>
          <p:nvPr/>
        </p:nvSpPr>
        <p:spPr>
          <a:xfrm>
            <a:off x="6172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f-t2"/>
          <p:cNvSpPr txBox="1"/>
          <p:nvPr/>
        </p:nvSpPr>
        <p:spPr>
          <a:xfrm>
            <a:off x="5394960" y="2898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제출</a:t>
            </a:r>
            <a:endParaRPr lang="en-US" sz="1700" dirty="0"/>
          </a:p>
        </p:txBody>
      </p:sp>
      <p:sp>
        <p:nvSpPr>
          <p:cNvPr id="22" name="sf-d2"/>
          <p:cNvSpPr txBox="1"/>
          <p:nvPr/>
        </p:nvSpPr>
        <p:spPr>
          <a:xfrm>
            <a:off x="539496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버튼 한 번 · 종이는 사진</a:t>
            </a:r>
            <a:endParaRPr lang="en-US" sz="1100" dirty="0"/>
          </a:p>
        </p:txBody>
      </p:sp>
      <p:sp>
        <p:nvSpPr>
          <p:cNvPr id="23" name="sf-a2"/>
          <p:cNvSpPr/>
          <p:nvPr/>
        </p:nvSpPr>
        <p:spPr>
          <a:xfrm>
            <a:off x="7498080" y="2788920"/>
            <a:ext cx="228600" cy="274320"/>
          </a:xfrm>
          <a:prstGeom prst="rightArrow">
            <a:avLst/>
          </a:prstGeom>
          <a:solidFill>
            <a:srgbClr val="B9C3D1"/>
          </a:solidFill>
          <a:ln w="12700">
            <a:solidFill>
              <a:srgbClr val="B9C3D1"/>
            </a:solidFill>
            <a:prstDash val="solid"/>
          </a:ln>
        </p:spPr>
      </p:sp>
      <p:sp>
        <p:nvSpPr>
          <p:cNvPr id="24" name="sf-b3"/>
          <p:cNvSpPr/>
          <p:nvPr/>
        </p:nvSpPr>
        <p:spPr>
          <a:xfrm>
            <a:off x="7818120" y="2240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1E3B0"/>
            </a:solidFill>
            <a:prstDash val="solid"/>
          </a:ln>
        </p:spPr>
      </p:sp>
      <p:sp>
        <p:nvSpPr>
          <p:cNvPr id="25" name="sf-n3"/>
          <p:cNvSpPr/>
          <p:nvPr/>
        </p:nvSpPr>
        <p:spPr>
          <a:xfrm>
            <a:off x="8595360" y="2377440"/>
            <a:ext cx="457200" cy="457200"/>
          </a:xfrm>
          <a:prstGeom prst="ellipse">
            <a:avLst/>
          </a:prstGeom>
          <a:solidFill>
            <a:srgbClr val="F1E3B0"/>
          </a:solidFill>
          <a:ln w="12700">
            <a:solidFill>
              <a:srgbClr val="F1E3B0"/>
            </a:solidFill>
            <a:prstDash val="solid"/>
          </a:ln>
        </p:spPr>
      </p:sp>
      <p:sp>
        <p:nvSpPr>
          <p:cNvPr id="26" name="sf-nt3"/>
          <p:cNvSpPr txBox="1"/>
          <p:nvPr/>
        </p:nvSpPr>
        <p:spPr>
          <a:xfrm>
            <a:off x="8595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sf-t3"/>
          <p:cNvSpPr txBox="1"/>
          <p:nvPr/>
        </p:nvSpPr>
        <p:spPr>
          <a:xfrm>
            <a:off x="7818120" y="2898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결과</a:t>
            </a:r>
            <a:endParaRPr lang="en-US" sz="1700" dirty="0"/>
          </a:p>
        </p:txBody>
      </p:sp>
      <p:sp>
        <p:nvSpPr>
          <p:cNvPr id="28" name="sf-d3"/>
          <p:cNvSpPr txBox="1"/>
          <p:nvPr/>
        </p:nvSpPr>
        <p:spPr>
          <a:xfrm>
            <a:off x="7818120" y="3227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잘했어요 · 다시 볼 칸</a:t>
            </a:r>
            <a:endParaRPr lang="en-US" sz="1100" dirty="0"/>
          </a:p>
        </p:txBody>
      </p:sp>
      <p:sp>
        <p:nvSpPr>
          <p:cNvPr id="29" name="sf-done-a"/>
          <p:cNvSpPr/>
          <p:nvPr/>
        </p:nvSpPr>
        <p:spPr>
          <a:xfrm>
            <a:off x="9829800" y="2788920"/>
            <a:ext cx="228600" cy="274320"/>
          </a:xfrm>
          <a:prstGeom prst="rightArrow">
            <a:avLst/>
          </a:prstGeom>
          <a:solidFill>
            <a:srgbClr val="8FC1A5"/>
          </a:solidFill>
          <a:ln w="12700">
            <a:solidFill>
              <a:srgbClr val="8FC1A5"/>
            </a:solidFill>
            <a:prstDash val="solid"/>
          </a:ln>
        </p:spPr>
      </p:sp>
      <p:sp>
        <p:nvSpPr>
          <p:cNvPr id="30" name="sf-done-l"/>
          <p:cNvSpPr txBox="1"/>
          <p:nvPr/>
        </p:nvSpPr>
        <p:spPr>
          <a:xfrm>
            <a:off x="9692640" y="24414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A5A"/>
                </a:solidFill>
              </a:rPr>
              <a:t>완료</a:t>
            </a:r>
            <a:endParaRPr lang="en-US" sz="1000" dirty="0"/>
          </a:p>
        </p:txBody>
      </p:sp>
      <p:sp>
        <p:nvSpPr>
          <p:cNvPr id="31" name="sf-end"/>
          <p:cNvSpPr/>
          <p:nvPr/>
        </p:nvSpPr>
        <p:spPr>
          <a:xfrm>
            <a:off x="10149840" y="2240280"/>
            <a:ext cx="1490472" cy="1371600"/>
          </a:xfrm>
          <a:prstGeom prst="roundRect">
            <a:avLst>
              <a:gd name="adj" fmla="val 6667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32" name="sf-end-t"/>
          <p:cNvSpPr txBox="1"/>
          <p:nvPr/>
        </p:nvSpPr>
        <p:spPr>
          <a:xfrm>
            <a:off x="10149840" y="265176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활동 종료</a:t>
            </a:r>
            <a:endParaRPr lang="en-US" sz="1700" dirty="0"/>
          </a:p>
        </p:txBody>
      </p:sp>
      <p:sp>
        <p:nvSpPr>
          <p:cNvPr id="33" name="sf-end-d"/>
          <p:cNvSpPr txBox="1"/>
          <p:nvPr/>
        </p:nvSpPr>
        <p:spPr>
          <a:xfrm>
            <a:off x="10149840" y="304495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기록에 남음</a:t>
            </a:r>
            <a:endParaRPr lang="en-US" sz="1100" dirty="0"/>
          </a:p>
        </p:txBody>
      </p:sp>
      <p:sp>
        <p:nvSpPr>
          <p:cNvPr id="34" name="sf-l1"/>
          <p:cNvSpPr/>
          <p:nvPr/>
        </p:nvSpPr>
        <p:spPr>
          <a:xfrm>
            <a:off x="8823960" y="3611880"/>
            <a:ext cx="0" cy="685800"/>
          </a:xfrm>
          <a:prstGeom prst="line">
            <a:avLst/>
          </a:prstGeom>
          <a:noFill/>
          <a:ln w="25400">
            <a:solidFill>
              <a:srgbClr val="B49BD6"/>
            </a:solidFill>
            <a:prstDash val="dash"/>
          </a:ln>
        </p:spPr>
      </p:sp>
      <p:sp>
        <p:nvSpPr>
          <p:cNvPr id="35" name="sf-l2"/>
          <p:cNvSpPr/>
          <p:nvPr/>
        </p:nvSpPr>
        <p:spPr>
          <a:xfrm>
            <a:off x="3977640" y="4297680"/>
            <a:ext cx="4846320" cy="0"/>
          </a:xfrm>
          <a:prstGeom prst="line">
            <a:avLst/>
          </a:prstGeom>
          <a:noFill/>
          <a:ln w="25400">
            <a:solidFill>
              <a:srgbClr val="B49BD6"/>
            </a:solidFill>
            <a:prstDash val="dash"/>
          </a:ln>
        </p:spPr>
      </p:sp>
      <p:sp>
        <p:nvSpPr>
          <p:cNvPr id="36" name="sf-l3"/>
          <p:cNvSpPr/>
          <p:nvPr/>
        </p:nvSpPr>
        <p:spPr>
          <a:xfrm flipV="1">
            <a:off x="3977640" y="3611880"/>
            <a:ext cx="0" cy="685800"/>
          </a:xfrm>
          <a:prstGeom prst="line">
            <a:avLst/>
          </a:prstGeom>
          <a:noFill/>
          <a:ln w="25400">
            <a:solidFill>
              <a:srgbClr val="B49BD6"/>
            </a:solidFill>
            <a:prstDash val="dash"/>
            <a:tailEnd type="triangle"/>
          </a:ln>
        </p:spPr>
      </p:sp>
      <p:sp>
        <p:nvSpPr>
          <p:cNvPr id="37" name="sf-re"/>
          <p:cNvSpPr/>
          <p:nvPr/>
        </p:nvSpPr>
        <p:spPr>
          <a:xfrm>
            <a:off x="4937760" y="4096512"/>
            <a:ext cx="2926080" cy="402336"/>
          </a:xfrm>
          <a:prstGeom prst="roundRect">
            <a:avLst>
              <a:gd name="adj" fmla="val 50000"/>
            </a:avLst>
          </a:prstGeom>
          <a:solidFill>
            <a:srgbClr val="E2DDF0"/>
          </a:solidFill>
          <a:ln w="12700">
            <a:solidFill>
              <a:srgbClr val="E2DDF0"/>
            </a:solidFill>
            <a:prstDash val="solid"/>
          </a:ln>
        </p:spPr>
      </p:sp>
      <p:sp>
        <p:nvSpPr>
          <p:cNvPr id="38" name="sf-re-t"/>
          <p:cNvSpPr txBox="1"/>
          <p:nvPr/>
        </p:nvSpPr>
        <p:spPr>
          <a:xfrm>
            <a:off x="4937760" y="40965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재제출 → 다시 풀기</a:t>
            </a:r>
            <a:endParaRPr lang="en-US" sz="1300" dirty="0"/>
          </a:p>
        </p:txBody>
      </p:sp>
      <p:sp>
        <p:nvSpPr>
          <p:cNvPr id="39" name="sf-re-d"/>
          <p:cNvSpPr txBox="1"/>
          <p:nvPr/>
        </p:nvSpPr>
        <p:spPr>
          <a:xfrm>
            <a:off x="402336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3"/>
                </a:solidFill>
              </a:rPr>
              <a:t>재제출을 받는 활동만 · 다시 볼 칸을 고쳐서 다시 제출</a:t>
            </a:r>
            <a:endParaRPr lang="en-US" sz="1100" dirty="0"/>
          </a:p>
        </p:txBody>
      </p:sp>
      <p:sp>
        <p:nvSpPr>
          <p:cNvPr id="40" name="sf-note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학생 화면은 활동지 한 장 · 재제출을 받지 않는 활동은 피드백을 받으면 바로 종료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정한 것과 남은 것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9076765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15 / 17</a:t>
            </a:r>
            <a:endParaRPr lang="en-US" sz="1100" dirty="0"/>
          </a:p>
        </p:txBody>
      </p:sp>
      <p:sp>
        <p:nvSpPr>
          <p:cNvPr id="6" name="dc-a"/>
          <p:cNvSpPr/>
          <p:nvPr/>
        </p:nvSpPr>
        <p:spPr>
          <a:xfrm>
            <a:off x="548640" y="1325880"/>
            <a:ext cx="69494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25400">
            <a:solidFill>
              <a:srgbClr val="D3E7DC"/>
            </a:solidFill>
            <a:prstDash val="solid"/>
          </a:ln>
        </p:spPr>
      </p:sp>
      <p:sp>
        <p:nvSpPr>
          <p:cNvPr id="7" name="dc-a-h"/>
          <p:cNvSpPr/>
          <p:nvPr/>
        </p:nvSpPr>
        <p:spPr>
          <a:xfrm>
            <a:off x="548640" y="1325880"/>
            <a:ext cx="6949440" cy="502920"/>
          </a:xfrm>
          <a:prstGeom prst="roundRect">
            <a:avLst>
              <a:gd name="adj" fmla="val 18182"/>
            </a:avLst>
          </a:prstGeom>
          <a:solidFill>
            <a:srgbClr val="D3E7DC"/>
          </a:solidFill>
          <a:ln w="12700">
            <a:solidFill>
              <a:srgbClr val="D3E7DC"/>
            </a:solidFill>
            <a:prstDash val="solid"/>
          </a:ln>
        </p:spPr>
      </p:sp>
      <p:sp>
        <p:nvSpPr>
          <p:cNvPr id="8" name="dc-a-t"/>
          <p:cNvSpPr txBox="1"/>
          <p:nvPr/>
        </p:nvSpPr>
        <p:spPr>
          <a:xfrm>
            <a:off x="731520" y="1325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정한 것</a:t>
            </a:r>
            <a:endParaRPr lang="en-US" sz="1700" dirty="0"/>
          </a:p>
        </p:txBody>
      </p:sp>
      <p:sp>
        <p:nvSpPr>
          <p:cNvPr id="9" name="dc-a-r0"/>
          <p:cNvSpPr/>
          <p:nvPr/>
        </p:nvSpPr>
        <p:spPr>
          <a:xfrm>
            <a:off x="731520" y="2011680"/>
            <a:ext cx="6583680" cy="1024128"/>
          </a:xfrm>
          <a:prstGeom prst="roundRect">
            <a:avLst>
              <a:gd name="adj" fmla="val 89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0" name="dc-a-k0"/>
          <p:cNvSpPr txBox="1"/>
          <p:nvPr/>
        </p:nvSpPr>
        <p:spPr>
          <a:xfrm>
            <a:off x="9144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3"/>
                </a:solidFill>
              </a:rPr>
              <a:t>종이 수업 제출</a:t>
            </a:r>
            <a:endParaRPr lang="en-US" sz="1300" dirty="0"/>
          </a:p>
        </p:txBody>
      </p:sp>
      <p:sp>
        <p:nvSpPr>
          <p:cNvPr id="11" name="dc-a-v0"/>
          <p:cNvSpPr txBox="1"/>
          <p:nvPr/>
        </p:nvSpPr>
        <p:spPr>
          <a:xfrm>
            <a:off x="283464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사진 올리기로 제출</a:t>
            </a:r>
            <a:endParaRPr lang="en-US" sz="1600" dirty="0"/>
          </a:p>
        </p:txBody>
      </p:sp>
      <p:sp>
        <p:nvSpPr>
          <p:cNvPr id="12" name="dc-a-d0"/>
          <p:cNvSpPr txBox="1"/>
          <p:nvPr/>
        </p:nvSpPr>
        <p:spPr>
          <a:xfrm>
            <a:off x="2834640" y="2542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종이 · 화면 활동은 종이에 풀고 사진으로 낸다</a:t>
            </a:r>
            <a:endParaRPr lang="en-US" sz="1200" dirty="0"/>
          </a:p>
        </p:txBody>
      </p:sp>
      <p:sp>
        <p:nvSpPr>
          <p:cNvPr id="13" name="dc-a-r1"/>
          <p:cNvSpPr/>
          <p:nvPr/>
        </p:nvSpPr>
        <p:spPr>
          <a:xfrm>
            <a:off x="731520" y="3218688"/>
            <a:ext cx="6583680" cy="1024128"/>
          </a:xfrm>
          <a:prstGeom prst="roundRect">
            <a:avLst>
              <a:gd name="adj" fmla="val 89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4" name="dc-a-k1"/>
          <p:cNvSpPr txBox="1"/>
          <p:nvPr/>
        </p:nvSpPr>
        <p:spPr>
          <a:xfrm>
            <a:off x="91440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3"/>
                </a:solidFill>
              </a:rPr>
              <a:t>자동 확인 범위</a:t>
            </a:r>
            <a:endParaRPr lang="en-US" sz="1300" dirty="0"/>
          </a:p>
        </p:txBody>
      </p:sp>
      <p:sp>
        <p:nvSpPr>
          <p:cNvPr id="15" name="dc-a-v1"/>
          <p:cNvSpPr txBox="1"/>
          <p:nvPr/>
        </p:nvSpPr>
        <p:spPr>
          <a:xfrm>
            <a:off x="283464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정답 칸 + 문장 칸</a:t>
            </a:r>
            <a:endParaRPr lang="en-US" sz="1600" dirty="0"/>
          </a:p>
        </p:txBody>
      </p:sp>
      <p:sp>
        <p:nvSpPr>
          <p:cNvPr id="16" name="dc-a-d1"/>
          <p:cNvSpPr txBox="1"/>
          <p:nvPr/>
        </p:nvSpPr>
        <p:spPr>
          <a:xfrm>
            <a:off x="2834640" y="3749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문장 칸은 AI가 확인 · 피드백은 교사가 보고 전송</a:t>
            </a:r>
            <a:endParaRPr lang="en-US" sz="1200" dirty="0"/>
          </a:p>
        </p:txBody>
      </p:sp>
      <p:sp>
        <p:nvSpPr>
          <p:cNvPr id="17" name="dc-a-r2"/>
          <p:cNvSpPr/>
          <p:nvPr/>
        </p:nvSpPr>
        <p:spPr>
          <a:xfrm>
            <a:off x="731520" y="4425696"/>
            <a:ext cx="6583680" cy="1024128"/>
          </a:xfrm>
          <a:prstGeom prst="roundRect">
            <a:avLst>
              <a:gd name="adj" fmla="val 89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dc-a-k2"/>
          <p:cNvSpPr txBox="1"/>
          <p:nvPr/>
        </p:nvSpPr>
        <p:spPr>
          <a:xfrm>
            <a:off x="914400" y="4517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3"/>
                </a:solidFill>
              </a:rPr>
              <a:t>활동 공유 범위</a:t>
            </a:r>
            <a:endParaRPr lang="en-US" sz="1300" dirty="0"/>
          </a:p>
        </p:txBody>
      </p:sp>
      <p:sp>
        <p:nvSpPr>
          <p:cNvPr id="19" name="dc-a-v2"/>
          <p:cNvSpPr txBox="1"/>
          <p:nvPr/>
        </p:nvSpPr>
        <p:spPr>
          <a:xfrm>
            <a:off x="2834640" y="45171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공유 안 함 · 전국 공유</a:t>
            </a:r>
            <a:endParaRPr lang="en-US" sz="1600" dirty="0"/>
          </a:p>
        </p:txBody>
      </p:sp>
      <p:sp>
        <p:nvSpPr>
          <p:cNvPr id="20" name="dc-a-d2"/>
          <p:cNvSpPr txBox="1"/>
          <p:nvPr/>
        </p:nvSpPr>
        <p:spPr>
          <a:xfrm>
            <a:off x="2834640" y="4956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학교마다 정보 교사가 1명이라 학교 공개는 없음 · 공유하면 홈 ‘선생님들이 공유한 활동’에 표시</a:t>
            </a:r>
            <a:endParaRPr lang="en-US" sz="1200" dirty="0"/>
          </a:p>
        </p:txBody>
      </p:sp>
      <p:sp>
        <p:nvSpPr>
          <p:cNvPr id="21" name="dc-b"/>
          <p:cNvSpPr/>
          <p:nvPr/>
        </p:nvSpPr>
        <p:spPr>
          <a:xfrm>
            <a:off x="7680960" y="1325880"/>
            <a:ext cx="3959352" cy="4434840"/>
          </a:xfrm>
          <a:prstGeom prst="roundRect">
            <a:avLst>
              <a:gd name="adj" fmla="val 2309"/>
            </a:avLst>
          </a:prstGeom>
          <a:solidFill>
            <a:srgbClr val="FFFFFF"/>
          </a:solidFill>
          <a:ln w="25400">
            <a:solidFill>
              <a:srgbClr val="E4E7EC"/>
            </a:solidFill>
            <a:prstDash val="solid"/>
          </a:ln>
        </p:spPr>
      </p:sp>
      <p:sp>
        <p:nvSpPr>
          <p:cNvPr id="22" name="dc-b-h"/>
          <p:cNvSpPr/>
          <p:nvPr/>
        </p:nvSpPr>
        <p:spPr>
          <a:xfrm>
            <a:off x="7680960" y="1325880"/>
            <a:ext cx="3959352" cy="502920"/>
          </a:xfrm>
          <a:prstGeom prst="roundRect">
            <a:avLst>
              <a:gd name="adj" fmla="val 18182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dc-b-t"/>
          <p:cNvSpPr txBox="1"/>
          <p:nvPr/>
        </p:nvSpPr>
        <p:spPr>
          <a:xfrm>
            <a:off x="7863840" y="1325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나중에 정할 것</a:t>
            </a:r>
            <a:endParaRPr lang="en-US" sz="1700" dirty="0"/>
          </a:p>
        </p:txBody>
      </p:sp>
      <p:sp>
        <p:nvSpPr>
          <p:cNvPr id="24" name="dc-b-r0"/>
          <p:cNvSpPr/>
          <p:nvPr/>
        </p:nvSpPr>
        <p:spPr>
          <a:xfrm>
            <a:off x="7863840" y="2011680"/>
            <a:ext cx="3593592" cy="1024128"/>
          </a:xfrm>
          <a:prstGeom prst="roundRect">
            <a:avLst>
              <a:gd name="adj" fmla="val 89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dc-b-k0"/>
          <p:cNvSpPr txBox="1"/>
          <p:nvPr/>
        </p:nvSpPr>
        <p:spPr>
          <a:xfrm>
            <a:off x="804672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학생 접속 방식</a:t>
            </a:r>
            <a:endParaRPr lang="en-US" sz="1500" dirty="0"/>
          </a:p>
        </p:txBody>
      </p:sp>
      <p:sp>
        <p:nvSpPr>
          <p:cNvPr id="26" name="dc-b-d0"/>
          <p:cNvSpPr txBox="1"/>
          <p:nvPr/>
        </p:nvSpPr>
        <p:spPr>
          <a:xfrm>
            <a:off x="804672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이름 입력만 vs 학교 계정 로그인</a:t>
            </a:r>
            <a:endParaRPr lang="en-US" sz="1200" dirty="0"/>
          </a:p>
        </p:txBody>
      </p:sp>
      <p:sp>
        <p:nvSpPr>
          <p:cNvPr id="27" name="dc-b-r1"/>
          <p:cNvSpPr/>
          <p:nvPr/>
        </p:nvSpPr>
        <p:spPr>
          <a:xfrm>
            <a:off x="7863840" y="3218688"/>
            <a:ext cx="3593592" cy="1024128"/>
          </a:xfrm>
          <a:prstGeom prst="roundRect">
            <a:avLst>
              <a:gd name="adj" fmla="val 89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8" name="dc-b-k1"/>
          <p:cNvSpPr txBox="1"/>
          <p:nvPr/>
        </p:nvSpPr>
        <p:spPr>
          <a:xfrm>
            <a:off x="8046720" y="3310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수업 중 현황에 더할 항목</a:t>
            </a:r>
            <a:endParaRPr lang="en-US" sz="1500" dirty="0"/>
          </a:p>
        </p:txBody>
      </p:sp>
      <p:sp>
        <p:nvSpPr>
          <p:cNvPr id="29" name="dc-b-d1"/>
          <p:cNvSpPr txBox="1"/>
          <p:nvPr/>
        </p:nvSpPr>
        <p:spPr>
          <a:xfrm>
            <a:off x="8046720" y="36758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진행 위치 · 남은 시간 · 도움 요청 버튼</a:t>
            </a:r>
            <a:endParaRPr lang="en-US" sz="1200" dirty="0"/>
          </a:p>
        </p:txBody>
      </p:sp>
      <p:sp>
        <p:nvSpPr>
          <p:cNvPr id="30" name="dc-b-r2"/>
          <p:cNvSpPr/>
          <p:nvPr/>
        </p:nvSpPr>
        <p:spPr>
          <a:xfrm>
            <a:off x="7863840" y="4425696"/>
            <a:ext cx="3593592" cy="1024128"/>
          </a:xfrm>
          <a:prstGeom prst="roundRect">
            <a:avLst>
              <a:gd name="adj" fmla="val 89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1" name="dc-b-k2"/>
          <p:cNvSpPr txBox="1"/>
          <p:nvPr/>
        </p:nvSpPr>
        <p:spPr>
          <a:xfrm>
            <a:off x="8046720" y="45171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학생 포트폴리오 (다음 단계)</a:t>
            </a:r>
            <a:endParaRPr lang="en-US" sz="1500" dirty="0"/>
          </a:p>
        </p:txBody>
      </p:sp>
      <p:sp>
        <p:nvSpPr>
          <p:cNvPr id="32" name="dc-b-d2"/>
          <p:cNvSpPr txBox="1"/>
          <p:nvPr/>
        </p:nvSpPr>
        <p:spPr>
          <a:xfrm>
            <a:off x="8046720" y="48828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쌓인 기록을 e-book 형태로 모아 보기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학교 계정 접속이 전제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일정: 11/6 프로토타입 완성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9681882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16 / 17</a:t>
            </a:r>
            <a:endParaRPr lang="en-US" sz="1100" dirty="0"/>
          </a:p>
        </p:txBody>
      </p:sp>
      <p:sp>
        <p:nvSpPr>
          <p:cNvPr id="6" name="sc-track"/>
          <p:cNvSpPr/>
          <p:nvPr/>
        </p:nvSpPr>
        <p:spPr>
          <a:xfrm>
            <a:off x="548640" y="1481328"/>
            <a:ext cx="11091672" cy="7315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sc-done"/>
          <p:cNvSpPr/>
          <p:nvPr/>
        </p:nvSpPr>
        <p:spPr>
          <a:xfrm>
            <a:off x="548640" y="1481328"/>
            <a:ext cx="2772918" cy="73152"/>
          </a:xfrm>
          <a:prstGeom prst="rect">
            <a:avLst/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8" name="sc-dot0"/>
          <p:cNvSpPr/>
          <p:nvPr/>
        </p:nvSpPr>
        <p:spPr>
          <a:xfrm>
            <a:off x="594360" y="1380744"/>
            <a:ext cx="274320" cy="274320"/>
          </a:xfrm>
          <a:prstGeom prst="ellipse">
            <a:avLst/>
          </a:prstGeom>
          <a:solidFill>
            <a:srgbClr val="8FB0D3"/>
          </a:solidFill>
          <a:ln w="19050">
            <a:solidFill>
              <a:srgbClr val="8FB0D3"/>
            </a:solidFill>
            <a:prstDash val="solid"/>
          </a:ln>
        </p:spPr>
      </p:sp>
      <p:sp>
        <p:nvSpPr>
          <p:cNvPr id="9" name="sc-c0"/>
          <p:cNvSpPr/>
          <p:nvPr/>
        </p:nvSpPr>
        <p:spPr>
          <a:xfrm>
            <a:off x="548640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6EAF0"/>
            </a:solidFill>
            <a:prstDash val="solid"/>
          </a:ln>
        </p:spPr>
      </p:sp>
      <p:sp>
        <p:nvSpPr>
          <p:cNvPr id="10" name="sc-h0"/>
          <p:cNvSpPr/>
          <p:nvPr/>
        </p:nvSpPr>
        <p:spPr>
          <a:xfrm>
            <a:off x="548640" y="17830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E6EAF0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1" name="sc-wk0"/>
          <p:cNvSpPr txBox="1"/>
          <p:nvPr/>
        </p:nvSpPr>
        <p:spPr>
          <a:xfrm>
            <a:off x="713232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1주</a:t>
            </a:r>
            <a:endParaRPr lang="en-US" sz="1800" dirty="0"/>
          </a:p>
        </p:txBody>
      </p:sp>
      <p:sp>
        <p:nvSpPr>
          <p:cNvPr id="12" name="sc-dt0"/>
          <p:cNvSpPr txBox="1"/>
          <p:nvPr/>
        </p:nvSpPr>
        <p:spPr>
          <a:xfrm>
            <a:off x="1417320" y="18288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10/12 ~ 16</a:t>
            </a:r>
            <a:endParaRPr lang="en-US" sz="1200" dirty="0"/>
          </a:p>
        </p:txBody>
      </p:sp>
      <p:sp>
        <p:nvSpPr>
          <p:cNvPr id="13" name="sc-g0"/>
          <p:cNvSpPr txBox="1"/>
          <p:nvPr/>
        </p:nvSpPr>
        <p:spPr>
          <a:xfrm>
            <a:off x="713232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완료</a:t>
            </a:r>
            <a:endParaRPr lang="en-US" sz="1300" dirty="0"/>
          </a:p>
        </p:txBody>
      </p:sp>
      <p:sp>
        <p:nvSpPr>
          <p:cNvPr id="14" name="sc-tl0"/>
          <p:cNvSpPr txBox="1"/>
          <p:nvPr/>
        </p:nvSpPr>
        <p:spPr>
          <a:xfrm>
            <a:off x="713232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할 일</a:t>
            </a:r>
            <a:endParaRPr lang="en-US" sz="1000" dirty="0"/>
          </a:p>
        </p:txBody>
      </p:sp>
      <p:sp>
        <p:nvSpPr>
          <p:cNvPr id="15" name="sc-b0"/>
          <p:cNvSpPr txBox="1"/>
          <p:nvPr/>
        </p:nvSpPr>
        <p:spPr>
          <a:xfrm>
            <a:off x="658368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전체 목업 (v14 ~ v26)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홈 재정의 · 질문창 · 추천 질문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활동지 기준 토론 · 시범 3종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토론 정리 · 서비스 기획서 v3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서비스 기획안 확정</a:t>
            </a:r>
            <a:endParaRPr lang="en-US" sz="1100" dirty="0"/>
          </a:p>
        </p:txBody>
      </p:sp>
      <p:sp>
        <p:nvSpPr>
          <p:cNvPr id="16" name="sc-div0"/>
          <p:cNvSpPr/>
          <p:nvPr/>
        </p:nvSpPr>
        <p:spPr>
          <a:xfrm>
            <a:off x="685800" y="4590288"/>
            <a:ext cx="2395728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17" name="sc-ol0"/>
          <p:cNvSpPr txBox="1"/>
          <p:nvPr/>
        </p:nvSpPr>
        <p:spPr>
          <a:xfrm>
            <a:off x="713232" y="4663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3"/>
                </a:solidFill>
              </a:rPr>
              <a:t>결과물</a:t>
            </a:r>
            <a:endParaRPr lang="en-US" sz="1000" dirty="0"/>
          </a:p>
        </p:txBody>
      </p:sp>
      <p:sp>
        <p:nvSpPr>
          <p:cNvPr id="18" name="sc-o0"/>
          <p:cNvSpPr txBox="1"/>
          <p:nvPr/>
        </p:nvSpPr>
        <p:spPr>
          <a:xfrm>
            <a:off x="658368" y="49194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목업 v26 (홈 · 활동지 상세)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서비스 기획안 (16쪽)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토론 정리 · 기획서 v3</a:t>
            </a:r>
            <a:endParaRPr lang="en-US" sz="1100" dirty="0"/>
          </a:p>
        </p:txBody>
      </p:sp>
      <p:sp>
        <p:nvSpPr>
          <p:cNvPr id="19" name="sc-dot1"/>
          <p:cNvSpPr/>
          <p:nvPr/>
        </p:nvSpPr>
        <p:spPr>
          <a:xfrm>
            <a:off x="3401568" y="138074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C3D1"/>
            </a:solidFill>
            <a:prstDash val="solid"/>
          </a:ln>
        </p:spPr>
      </p:sp>
      <p:sp>
        <p:nvSpPr>
          <p:cNvPr id="20" name="sc-c1"/>
          <p:cNvSpPr/>
          <p:nvPr/>
        </p:nvSpPr>
        <p:spPr>
          <a:xfrm>
            <a:off x="3355848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DCE6F2"/>
            </a:solidFill>
            <a:prstDash val="solid"/>
          </a:ln>
        </p:spPr>
      </p:sp>
      <p:sp>
        <p:nvSpPr>
          <p:cNvPr id="21" name="sc-h1"/>
          <p:cNvSpPr/>
          <p:nvPr/>
        </p:nvSpPr>
        <p:spPr>
          <a:xfrm>
            <a:off x="3355848" y="17830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2" name="sc-wk1"/>
          <p:cNvSpPr txBox="1"/>
          <p:nvPr/>
        </p:nvSpPr>
        <p:spPr>
          <a:xfrm>
            <a:off x="352044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2주</a:t>
            </a:r>
            <a:endParaRPr lang="en-US" sz="1800" dirty="0"/>
          </a:p>
        </p:txBody>
      </p:sp>
      <p:sp>
        <p:nvSpPr>
          <p:cNvPr id="23" name="sc-dt1"/>
          <p:cNvSpPr txBox="1"/>
          <p:nvPr/>
        </p:nvSpPr>
        <p:spPr>
          <a:xfrm>
            <a:off x="4224528" y="18288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10/19 ~ 23</a:t>
            </a:r>
            <a:endParaRPr lang="en-US" sz="1200" dirty="0"/>
          </a:p>
        </p:txBody>
      </p:sp>
      <p:sp>
        <p:nvSpPr>
          <p:cNvPr id="24" name="sc-g1"/>
          <p:cNvSpPr txBox="1"/>
          <p:nvPr/>
        </p:nvSpPr>
        <p:spPr>
          <a:xfrm>
            <a:off x="3520440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고르고 · 바꾸고 화면</a:t>
            </a:r>
            <a:endParaRPr lang="en-US" sz="1300" dirty="0"/>
          </a:p>
        </p:txBody>
      </p:sp>
      <p:sp>
        <p:nvSpPr>
          <p:cNvPr id="25" name="sc-tl1"/>
          <p:cNvSpPr txBox="1"/>
          <p:nvPr/>
        </p:nvSpPr>
        <p:spPr>
          <a:xfrm>
            <a:off x="3520440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할 일</a:t>
            </a:r>
            <a:endParaRPr lang="en-US" sz="1000" dirty="0"/>
          </a:p>
        </p:txBody>
      </p:sp>
      <p:sp>
        <p:nvSpPr>
          <p:cNvPr id="26" name="sc-b1"/>
          <p:cNvSpPr txBox="1"/>
          <p:nvPr/>
        </p:nvSpPr>
        <p:spPr>
          <a:xfrm>
            <a:off x="3465576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화면 목록 · 흐름 확정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활동지 제작 (1일)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홈: 질문창 · 추천 질문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활동 목록 · 미리보기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고쳐서 배포 · 직접 만들기</a:t>
            </a:r>
            <a:endParaRPr lang="en-US" sz="1100" dirty="0"/>
          </a:p>
        </p:txBody>
      </p:sp>
      <p:sp>
        <p:nvSpPr>
          <p:cNvPr id="27" name="sc-div1"/>
          <p:cNvSpPr/>
          <p:nvPr/>
        </p:nvSpPr>
        <p:spPr>
          <a:xfrm>
            <a:off x="3493008" y="4590288"/>
            <a:ext cx="2395728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28" name="sc-ol1"/>
          <p:cNvSpPr txBox="1"/>
          <p:nvPr/>
        </p:nvSpPr>
        <p:spPr>
          <a:xfrm>
            <a:off x="3520440" y="4663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3"/>
                </a:solidFill>
              </a:rPr>
              <a:t>예상 결과물</a:t>
            </a:r>
            <a:endParaRPr lang="en-US" sz="1000" dirty="0"/>
          </a:p>
        </p:txBody>
      </p:sp>
      <p:sp>
        <p:nvSpPr>
          <p:cNvPr id="29" name="sc-o1"/>
          <p:cNvSpPr txBox="1"/>
          <p:nvPr/>
        </p:nvSpPr>
        <p:spPr>
          <a:xfrm>
            <a:off x="3465576" y="49194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교사 화면 5개 완성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찾기 → 고치기 → 저장까지 된다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소단원별 활동지 초안</a:t>
            </a:r>
            <a:endParaRPr lang="en-US" sz="1100" dirty="0"/>
          </a:p>
        </p:txBody>
      </p:sp>
      <p:sp>
        <p:nvSpPr>
          <p:cNvPr id="30" name="sc-dot2"/>
          <p:cNvSpPr/>
          <p:nvPr/>
        </p:nvSpPr>
        <p:spPr>
          <a:xfrm>
            <a:off x="6208776" y="138074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C3D1"/>
            </a:solidFill>
            <a:prstDash val="solid"/>
          </a:ln>
        </p:spPr>
      </p:sp>
      <p:sp>
        <p:nvSpPr>
          <p:cNvPr id="31" name="sc-c2"/>
          <p:cNvSpPr/>
          <p:nvPr/>
        </p:nvSpPr>
        <p:spPr>
          <a:xfrm>
            <a:off x="6163056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C9DAEC"/>
            </a:solidFill>
            <a:prstDash val="solid"/>
          </a:ln>
        </p:spPr>
      </p:sp>
      <p:sp>
        <p:nvSpPr>
          <p:cNvPr id="32" name="sc-h2"/>
          <p:cNvSpPr/>
          <p:nvPr/>
        </p:nvSpPr>
        <p:spPr>
          <a:xfrm>
            <a:off x="6163056" y="17830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33" name="sc-wk2"/>
          <p:cNvSpPr txBox="1"/>
          <p:nvPr/>
        </p:nvSpPr>
        <p:spPr>
          <a:xfrm>
            <a:off x="6327648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3주</a:t>
            </a:r>
            <a:endParaRPr lang="en-US" sz="1800" dirty="0"/>
          </a:p>
        </p:txBody>
      </p:sp>
      <p:sp>
        <p:nvSpPr>
          <p:cNvPr id="34" name="sc-dt2"/>
          <p:cNvSpPr txBox="1"/>
          <p:nvPr/>
        </p:nvSpPr>
        <p:spPr>
          <a:xfrm>
            <a:off x="7031736" y="18288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10/26 ~ 30</a:t>
            </a:r>
            <a:endParaRPr lang="en-US" sz="1200" dirty="0"/>
          </a:p>
        </p:txBody>
      </p:sp>
      <p:sp>
        <p:nvSpPr>
          <p:cNvPr id="35" name="sc-g2"/>
          <p:cNvSpPr txBox="1"/>
          <p:nvPr/>
        </p:nvSpPr>
        <p:spPr>
          <a:xfrm>
            <a:off x="6327648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사용하고 · 학생 화면</a:t>
            </a:r>
            <a:endParaRPr lang="en-US" sz="1300" dirty="0"/>
          </a:p>
        </p:txBody>
      </p:sp>
      <p:sp>
        <p:nvSpPr>
          <p:cNvPr id="36" name="sc-tl2"/>
          <p:cNvSpPr txBox="1"/>
          <p:nvPr/>
        </p:nvSpPr>
        <p:spPr>
          <a:xfrm>
            <a:off x="6327648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할 일</a:t>
            </a:r>
            <a:endParaRPr lang="en-US" sz="1000" dirty="0"/>
          </a:p>
        </p:txBody>
      </p:sp>
      <p:sp>
        <p:nvSpPr>
          <p:cNvPr id="37" name="sc-b2"/>
          <p:cNvSpPr txBox="1"/>
          <p:nvPr/>
        </p:nvSpPr>
        <p:spPr>
          <a:xfrm>
            <a:off x="6272784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배포 설정 · 수업 중 현황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피드백 · 재제출 확인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수업 관리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학생: 접속 · 풀기 · 제출 · 결과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금: 정보 교사 중간 리뷰</a:t>
            </a:r>
            <a:endParaRPr lang="en-US" sz="1100" dirty="0"/>
          </a:p>
        </p:txBody>
      </p:sp>
      <p:sp>
        <p:nvSpPr>
          <p:cNvPr id="38" name="sc-div2"/>
          <p:cNvSpPr/>
          <p:nvPr/>
        </p:nvSpPr>
        <p:spPr>
          <a:xfrm>
            <a:off x="6300216" y="4590288"/>
            <a:ext cx="2395728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39" name="sc-ol2"/>
          <p:cNvSpPr txBox="1"/>
          <p:nvPr/>
        </p:nvSpPr>
        <p:spPr>
          <a:xfrm>
            <a:off x="6327648" y="4663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3"/>
                </a:solidFill>
              </a:rPr>
              <a:t>예상 결과물</a:t>
            </a:r>
            <a:endParaRPr lang="en-US" sz="1000" dirty="0"/>
          </a:p>
        </p:txBody>
      </p:sp>
      <p:sp>
        <p:nvSpPr>
          <p:cNvPr id="40" name="sc-o2"/>
          <p:cNvSpPr txBox="1"/>
          <p:nvPr/>
        </p:nvSpPr>
        <p:spPr>
          <a:xfrm>
            <a:off x="6272784" y="49194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교사 5개 + 학생 4개 화면 완성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배포 → 제출 → 피드백 → 재제출까지 된다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AI 부분은 샘플 응답</a:t>
            </a:r>
            <a:endParaRPr lang="en-US" sz="1100" dirty="0"/>
          </a:p>
        </p:txBody>
      </p:sp>
      <p:sp>
        <p:nvSpPr>
          <p:cNvPr id="41" name="sc-dot3"/>
          <p:cNvSpPr/>
          <p:nvPr/>
        </p:nvSpPr>
        <p:spPr>
          <a:xfrm>
            <a:off x="9015984" y="138074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C3D1"/>
            </a:solidFill>
            <a:prstDash val="solid"/>
          </a:ln>
        </p:spPr>
      </p:sp>
      <p:sp>
        <p:nvSpPr>
          <p:cNvPr id="42" name="sc-c3"/>
          <p:cNvSpPr/>
          <p:nvPr/>
        </p:nvSpPr>
        <p:spPr>
          <a:xfrm>
            <a:off x="8970264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25400">
            <a:solidFill>
              <a:srgbClr val="8FB0D3"/>
            </a:solidFill>
            <a:prstDash val="solid"/>
          </a:ln>
        </p:spPr>
      </p:sp>
      <p:sp>
        <p:nvSpPr>
          <p:cNvPr id="43" name="sc-h3"/>
          <p:cNvSpPr/>
          <p:nvPr/>
        </p:nvSpPr>
        <p:spPr>
          <a:xfrm>
            <a:off x="8970264" y="17830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B4CBE4"/>
          </a:solidFill>
          <a:ln w="12700">
            <a:solidFill>
              <a:srgbClr val="B4CBE4"/>
            </a:solidFill>
            <a:prstDash val="solid"/>
          </a:ln>
        </p:spPr>
      </p:sp>
      <p:sp>
        <p:nvSpPr>
          <p:cNvPr id="44" name="sc-wk3"/>
          <p:cNvSpPr txBox="1"/>
          <p:nvPr/>
        </p:nvSpPr>
        <p:spPr>
          <a:xfrm>
            <a:off x="9134856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4주</a:t>
            </a:r>
            <a:endParaRPr lang="en-US" sz="1800" dirty="0"/>
          </a:p>
        </p:txBody>
      </p:sp>
      <p:sp>
        <p:nvSpPr>
          <p:cNvPr id="45" name="sc-dt3"/>
          <p:cNvSpPr txBox="1"/>
          <p:nvPr/>
        </p:nvSpPr>
        <p:spPr>
          <a:xfrm>
            <a:off x="9838944" y="18288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11/2 ~ 6</a:t>
            </a:r>
            <a:endParaRPr lang="en-US" sz="1200" dirty="0"/>
          </a:p>
        </p:txBody>
      </p:sp>
      <p:sp>
        <p:nvSpPr>
          <p:cNvPr id="46" name="sc-g3"/>
          <p:cNvSpPr txBox="1"/>
          <p:nvPr/>
        </p:nvSpPr>
        <p:spPr>
          <a:xfrm>
            <a:off x="9134856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AI 시연 구성 · 마무리</a:t>
            </a:r>
            <a:endParaRPr lang="en-US" sz="1300" dirty="0"/>
          </a:p>
        </p:txBody>
      </p:sp>
      <p:sp>
        <p:nvSpPr>
          <p:cNvPr id="47" name="sc-tl3"/>
          <p:cNvSpPr txBox="1"/>
          <p:nvPr/>
        </p:nvSpPr>
        <p:spPr>
          <a:xfrm>
            <a:off x="9134856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할 일</a:t>
            </a:r>
            <a:endParaRPr lang="en-US" sz="1000" dirty="0"/>
          </a:p>
        </p:txBody>
      </p:sp>
      <p:sp>
        <p:nvSpPr>
          <p:cNvPr id="48" name="sc-b3"/>
          <p:cNvSpPr txBox="1"/>
          <p:nvPr/>
        </p:nvSpPr>
        <p:spPr>
          <a:xfrm>
            <a:off x="9079992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AI 시연: 질문창 검색 · 문장 칸 확인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AI 시연: 피드백 미리 고르기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AI 시연: 대시보드 조건 바꾸기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리뷰 반영 · 활동지 탑재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전체 흐름 점검</a:t>
            </a:r>
            <a:endParaRPr lang="en-US" sz="1100" dirty="0"/>
          </a:p>
        </p:txBody>
      </p:sp>
      <p:sp>
        <p:nvSpPr>
          <p:cNvPr id="49" name="sc-div3"/>
          <p:cNvSpPr/>
          <p:nvPr/>
        </p:nvSpPr>
        <p:spPr>
          <a:xfrm>
            <a:off x="9107424" y="4590288"/>
            <a:ext cx="2395728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50" name="sc-ol3"/>
          <p:cNvSpPr txBox="1"/>
          <p:nvPr/>
        </p:nvSpPr>
        <p:spPr>
          <a:xfrm>
            <a:off x="9134856" y="4663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3"/>
                </a:solidFill>
              </a:rPr>
              <a:t>예상 결과물</a:t>
            </a:r>
            <a:endParaRPr lang="en-US" sz="1000" dirty="0"/>
          </a:p>
        </p:txBody>
      </p:sp>
      <p:sp>
        <p:nvSpPr>
          <p:cNvPr id="51" name="sc-o3"/>
          <p:cNvSpPr txBox="1"/>
          <p:nvPr/>
        </p:nvSpPr>
        <p:spPr>
          <a:xfrm>
            <a:off x="9079992" y="49194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AI처럼 동작하는 시연 4곳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화면 14개가 한 흐름으로 이어진다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11/6 시연 가능한 프로토타입</a:t>
            </a:r>
            <a:endParaRPr lang="en-US" sz="1100" dirty="0"/>
          </a:p>
        </p:txBody>
      </p:sp>
      <p:sp>
        <p:nvSpPr>
          <p:cNvPr id="52" name="sc-end"/>
          <p:cNvSpPr/>
          <p:nvPr/>
        </p:nvSpPr>
        <p:spPr>
          <a:xfrm>
            <a:off x="11347704" y="136245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3" name="sc-end-t"/>
          <p:cNvSpPr txBox="1"/>
          <p:nvPr/>
        </p:nvSpPr>
        <p:spPr>
          <a:xfrm>
            <a:off x="9948672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11/6 마감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일정: 주차별 화면 · 기능 구성</a:t>
            </a:r>
            <a:endParaRPr lang="en-US" sz="3000" dirty="0"/>
          </a:p>
        </p:txBody>
      </p:sp>
      <p:sp>
        <p:nvSpPr>
          <p:cNvPr id="3" name="prog-track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4" name="prog-fill"/>
          <p:cNvSpPr/>
          <p:nvPr/>
        </p:nvSpPr>
        <p:spPr>
          <a:xfrm>
            <a:off x="548640" y="6510528"/>
            <a:ext cx="10287000" cy="91440"/>
          </a:xfrm>
          <a:prstGeom prst="roundRect">
            <a:avLst>
              <a:gd name="adj" fmla="val 50000"/>
            </a:avLst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5" name="prog-num"/>
          <p:cNvSpPr txBox="1"/>
          <p:nvPr/>
        </p:nvSpPr>
        <p:spPr>
          <a:xfrm>
            <a:off x="10927080" y="6419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B85"/>
                </a:solidFill>
              </a:rPr>
              <a:t>17 / 17</a:t>
            </a:r>
            <a:endParaRPr lang="en-US" sz="1100" dirty="0"/>
          </a:p>
        </p:txBody>
      </p:sp>
      <p:sp>
        <p:nvSpPr>
          <p:cNvPr id="6" name="sk-track"/>
          <p:cNvSpPr/>
          <p:nvPr/>
        </p:nvSpPr>
        <p:spPr>
          <a:xfrm>
            <a:off x="548640" y="1481328"/>
            <a:ext cx="11091672" cy="7315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sk-done"/>
          <p:cNvSpPr/>
          <p:nvPr/>
        </p:nvSpPr>
        <p:spPr>
          <a:xfrm>
            <a:off x="548640" y="1481328"/>
            <a:ext cx="2772918" cy="73152"/>
          </a:xfrm>
          <a:prstGeom prst="rect">
            <a:avLst/>
          </a:prstGeom>
          <a:solidFill>
            <a:srgbClr val="8FB0D3"/>
          </a:solidFill>
          <a:ln w="12700">
            <a:solidFill>
              <a:srgbClr val="8FB0D3"/>
            </a:solidFill>
            <a:prstDash val="solid"/>
          </a:ln>
        </p:spPr>
      </p:sp>
      <p:sp>
        <p:nvSpPr>
          <p:cNvPr id="8" name="sk-dot0"/>
          <p:cNvSpPr/>
          <p:nvPr/>
        </p:nvSpPr>
        <p:spPr>
          <a:xfrm>
            <a:off x="594360" y="1380744"/>
            <a:ext cx="274320" cy="274320"/>
          </a:xfrm>
          <a:prstGeom prst="ellipse">
            <a:avLst/>
          </a:prstGeom>
          <a:solidFill>
            <a:srgbClr val="8FB0D3"/>
          </a:solidFill>
          <a:ln w="19050">
            <a:solidFill>
              <a:srgbClr val="8FB0D3"/>
            </a:solidFill>
            <a:prstDash val="solid"/>
          </a:ln>
        </p:spPr>
      </p:sp>
      <p:sp>
        <p:nvSpPr>
          <p:cNvPr id="9" name="sk-c0"/>
          <p:cNvSpPr/>
          <p:nvPr/>
        </p:nvSpPr>
        <p:spPr>
          <a:xfrm>
            <a:off x="548640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E6EAF0"/>
            </a:solidFill>
            <a:prstDash val="solid"/>
          </a:ln>
        </p:spPr>
      </p:sp>
      <p:sp>
        <p:nvSpPr>
          <p:cNvPr id="10" name="sk-h0"/>
          <p:cNvSpPr/>
          <p:nvPr/>
        </p:nvSpPr>
        <p:spPr>
          <a:xfrm>
            <a:off x="548640" y="17830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E6EAF0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1" name="sk-wk0"/>
          <p:cNvSpPr txBox="1"/>
          <p:nvPr/>
        </p:nvSpPr>
        <p:spPr>
          <a:xfrm>
            <a:off x="713232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1주</a:t>
            </a:r>
            <a:endParaRPr lang="en-US" sz="1800" dirty="0"/>
          </a:p>
        </p:txBody>
      </p:sp>
      <p:sp>
        <p:nvSpPr>
          <p:cNvPr id="12" name="sk-dt0"/>
          <p:cNvSpPr txBox="1"/>
          <p:nvPr/>
        </p:nvSpPr>
        <p:spPr>
          <a:xfrm>
            <a:off x="1417320" y="18288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10/12 ~ 16</a:t>
            </a:r>
            <a:endParaRPr lang="en-US" sz="1200" dirty="0"/>
          </a:p>
        </p:txBody>
      </p:sp>
      <p:sp>
        <p:nvSpPr>
          <p:cNvPr id="13" name="sk-g0"/>
          <p:cNvSpPr txBox="1"/>
          <p:nvPr/>
        </p:nvSpPr>
        <p:spPr>
          <a:xfrm>
            <a:off x="713232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기획 · 화면 설계 (완료)</a:t>
            </a:r>
            <a:endParaRPr lang="en-US" sz="1300" dirty="0"/>
          </a:p>
        </p:txBody>
      </p:sp>
      <p:sp>
        <p:nvSpPr>
          <p:cNvPr id="14" name="sk-tl0"/>
          <p:cNvSpPr txBox="1"/>
          <p:nvPr/>
        </p:nvSpPr>
        <p:spPr>
          <a:xfrm>
            <a:off x="713232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할 일</a:t>
            </a:r>
            <a:endParaRPr lang="en-US" sz="1000" dirty="0"/>
          </a:p>
        </p:txBody>
      </p:sp>
      <p:sp>
        <p:nvSpPr>
          <p:cNvPr id="15" name="sk-b0"/>
          <p:cNvSpPr txBox="1"/>
          <p:nvPr/>
        </p:nvSpPr>
        <p:spPr>
          <a:xfrm>
            <a:off x="658368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서비스 방향 · 주요 기능 정의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교사 화면 전체 목업 제작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활동지 기준 정리 · 시범 3종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정보 교사 의견 반영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서비스 기획안 확정</a:t>
            </a:r>
            <a:endParaRPr lang="en-US" sz="1100" dirty="0"/>
          </a:p>
        </p:txBody>
      </p:sp>
      <p:sp>
        <p:nvSpPr>
          <p:cNvPr id="16" name="sk-div0"/>
          <p:cNvSpPr/>
          <p:nvPr/>
        </p:nvSpPr>
        <p:spPr>
          <a:xfrm>
            <a:off x="685800" y="4590288"/>
            <a:ext cx="2395728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17" name="sk-ol0"/>
          <p:cNvSpPr txBox="1"/>
          <p:nvPr/>
        </p:nvSpPr>
        <p:spPr>
          <a:xfrm>
            <a:off x="713232" y="4663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3"/>
                </a:solidFill>
              </a:rPr>
              <a:t>결과물</a:t>
            </a:r>
            <a:endParaRPr lang="en-US" sz="1000" dirty="0"/>
          </a:p>
        </p:txBody>
      </p:sp>
      <p:sp>
        <p:nvSpPr>
          <p:cNvPr id="18" name="sk-o0"/>
          <p:cNvSpPr txBox="1"/>
          <p:nvPr/>
        </p:nvSpPr>
        <p:spPr>
          <a:xfrm>
            <a:off x="658368" y="49194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화면 목업 · 서비스 기획안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활동지 시범 3종</a:t>
            </a:r>
            <a:endParaRPr lang="en-US" sz="1100" dirty="0"/>
          </a:p>
        </p:txBody>
      </p:sp>
      <p:sp>
        <p:nvSpPr>
          <p:cNvPr id="19" name="sk-dot1"/>
          <p:cNvSpPr/>
          <p:nvPr/>
        </p:nvSpPr>
        <p:spPr>
          <a:xfrm>
            <a:off x="3401568" y="138074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C3D1"/>
            </a:solidFill>
            <a:prstDash val="solid"/>
          </a:ln>
        </p:spPr>
      </p:sp>
      <p:sp>
        <p:nvSpPr>
          <p:cNvPr id="20" name="sk-c1"/>
          <p:cNvSpPr/>
          <p:nvPr/>
        </p:nvSpPr>
        <p:spPr>
          <a:xfrm>
            <a:off x="3355848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DCE6F2"/>
            </a:solidFill>
            <a:prstDash val="solid"/>
          </a:ln>
        </p:spPr>
      </p:sp>
      <p:sp>
        <p:nvSpPr>
          <p:cNvPr id="21" name="sk-h1"/>
          <p:cNvSpPr/>
          <p:nvPr/>
        </p:nvSpPr>
        <p:spPr>
          <a:xfrm>
            <a:off x="3355848" y="17830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2" name="sk-wk1"/>
          <p:cNvSpPr txBox="1"/>
          <p:nvPr/>
        </p:nvSpPr>
        <p:spPr>
          <a:xfrm>
            <a:off x="352044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2주</a:t>
            </a:r>
            <a:endParaRPr lang="en-US" sz="1800" dirty="0"/>
          </a:p>
        </p:txBody>
      </p:sp>
      <p:sp>
        <p:nvSpPr>
          <p:cNvPr id="23" name="sk-dt1"/>
          <p:cNvSpPr txBox="1"/>
          <p:nvPr/>
        </p:nvSpPr>
        <p:spPr>
          <a:xfrm>
            <a:off x="4224528" y="18288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10/19 ~ 23</a:t>
            </a:r>
            <a:endParaRPr lang="en-US" sz="1200" dirty="0"/>
          </a:p>
        </p:txBody>
      </p:sp>
      <p:sp>
        <p:nvSpPr>
          <p:cNvPr id="24" name="sk-g1"/>
          <p:cNvSpPr txBox="1"/>
          <p:nvPr/>
        </p:nvSpPr>
        <p:spPr>
          <a:xfrm>
            <a:off x="3520440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교사 주요 화면: 활동 찾기 · 편집</a:t>
            </a:r>
            <a:endParaRPr lang="en-US" sz="1300" dirty="0"/>
          </a:p>
        </p:txBody>
      </p:sp>
      <p:sp>
        <p:nvSpPr>
          <p:cNvPr id="25" name="sk-tl1"/>
          <p:cNvSpPr txBox="1"/>
          <p:nvPr/>
        </p:nvSpPr>
        <p:spPr>
          <a:xfrm>
            <a:off x="3520440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할 일</a:t>
            </a:r>
            <a:endParaRPr lang="en-US" sz="1000" dirty="0"/>
          </a:p>
        </p:txBody>
      </p:sp>
      <p:sp>
        <p:nvSpPr>
          <p:cNvPr id="26" name="sk-b1"/>
          <p:cNvSpPr txBox="1"/>
          <p:nvPr/>
        </p:nvSpPr>
        <p:spPr>
          <a:xfrm>
            <a:off x="3465576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홈: AI 검색 · 추천 질문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활동 목록 · 미리보기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활동 편집: 사본 생성 · 정답 수정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새 활동 만들기: 유형 템플릿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활동지 콘텐츠 제작 (1일)</a:t>
            </a:r>
            <a:endParaRPr lang="en-US" sz="1100" dirty="0"/>
          </a:p>
        </p:txBody>
      </p:sp>
      <p:sp>
        <p:nvSpPr>
          <p:cNvPr id="27" name="sk-div1"/>
          <p:cNvSpPr/>
          <p:nvPr/>
        </p:nvSpPr>
        <p:spPr>
          <a:xfrm>
            <a:off x="3493008" y="4590288"/>
            <a:ext cx="2395728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28" name="sk-ol1"/>
          <p:cNvSpPr txBox="1"/>
          <p:nvPr/>
        </p:nvSpPr>
        <p:spPr>
          <a:xfrm>
            <a:off x="3520440" y="4663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3"/>
                </a:solidFill>
              </a:rPr>
              <a:t>예상 결과물</a:t>
            </a:r>
            <a:endParaRPr lang="en-US" sz="1000" dirty="0"/>
          </a:p>
        </p:txBody>
      </p:sp>
      <p:sp>
        <p:nvSpPr>
          <p:cNvPr id="29" name="sk-o1"/>
          <p:cNvSpPr txBox="1"/>
          <p:nvPr/>
        </p:nvSpPr>
        <p:spPr>
          <a:xfrm>
            <a:off x="3465576" y="49194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교사 화면 5개 완성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검색 → 편집 → 저장까지 된다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소단원별 활동지 초안</a:t>
            </a:r>
            <a:endParaRPr lang="en-US" sz="1100" dirty="0"/>
          </a:p>
        </p:txBody>
      </p:sp>
      <p:sp>
        <p:nvSpPr>
          <p:cNvPr id="30" name="sk-dot2"/>
          <p:cNvSpPr/>
          <p:nvPr/>
        </p:nvSpPr>
        <p:spPr>
          <a:xfrm>
            <a:off x="6208776" y="138074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C3D1"/>
            </a:solidFill>
            <a:prstDash val="solid"/>
          </a:ln>
        </p:spPr>
      </p:sp>
      <p:sp>
        <p:nvSpPr>
          <p:cNvPr id="31" name="sk-c2"/>
          <p:cNvSpPr/>
          <p:nvPr/>
        </p:nvSpPr>
        <p:spPr>
          <a:xfrm>
            <a:off x="6163056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5875">
            <a:solidFill>
              <a:srgbClr val="C9DAEC"/>
            </a:solidFill>
            <a:prstDash val="solid"/>
          </a:ln>
        </p:spPr>
      </p:sp>
      <p:sp>
        <p:nvSpPr>
          <p:cNvPr id="32" name="sk-h2"/>
          <p:cNvSpPr/>
          <p:nvPr/>
        </p:nvSpPr>
        <p:spPr>
          <a:xfrm>
            <a:off x="6163056" y="17830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C9DAEC"/>
          </a:solidFill>
          <a:ln w="12700">
            <a:solidFill>
              <a:srgbClr val="C9DAEC"/>
            </a:solidFill>
            <a:prstDash val="solid"/>
          </a:ln>
        </p:spPr>
      </p:sp>
      <p:sp>
        <p:nvSpPr>
          <p:cNvPr id="33" name="sk-wk2"/>
          <p:cNvSpPr txBox="1"/>
          <p:nvPr/>
        </p:nvSpPr>
        <p:spPr>
          <a:xfrm>
            <a:off x="6327648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3주</a:t>
            </a:r>
            <a:endParaRPr lang="en-US" sz="1800" dirty="0"/>
          </a:p>
        </p:txBody>
      </p:sp>
      <p:sp>
        <p:nvSpPr>
          <p:cNvPr id="34" name="sk-dt2"/>
          <p:cNvSpPr txBox="1"/>
          <p:nvPr/>
        </p:nvSpPr>
        <p:spPr>
          <a:xfrm>
            <a:off x="7031736" y="18288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10/26 ~ 30</a:t>
            </a:r>
            <a:endParaRPr lang="en-US" sz="1200" dirty="0"/>
          </a:p>
        </p:txBody>
      </p:sp>
      <p:sp>
        <p:nvSpPr>
          <p:cNvPr id="35" name="sk-g2"/>
          <p:cNvSpPr txBox="1"/>
          <p:nvPr/>
        </p:nvSpPr>
        <p:spPr>
          <a:xfrm>
            <a:off x="6327648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수업 운영 화면 · 학생 화면</a:t>
            </a:r>
            <a:endParaRPr lang="en-US" sz="1300" dirty="0"/>
          </a:p>
        </p:txBody>
      </p:sp>
      <p:sp>
        <p:nvSpPr>
          <p:cNvPr id="36" name="sk-tl2"/>
          <p:cNvSpPr txBox="1"/>
          <p:nvPr/>
        </p:nvSpPr>
        <p:spPr>
          <a:xfrm>
            <a:off x="6327648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할 일</a:t>
            </a:r>
            <a:endParaRPr lang="en-US" sz="1000" dirty="0"/>
          </a:p>
        </p:txBody>
      </p:sp>
      <p:sp>
        <p:nvSpPr>
          <p:cNvPr id="37" name="sk-b2"/>
          <p:cNvSpPr txBox="1"/>
          <p:nvPr/>
        </p:nvSpPr>
        <p:spPr>
          <a:xfrm>
            <a:off x="6272784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배포 설정 · 수업 중 제출 현황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피드백 일괄 전송 · 재제출 확인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수업 결과 대시보드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학생: 접속 · 풀이 · 제출 · 결과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금: 정보 교사 중간 리뷰</a:t>
            </a:r>
            <a:endParaRPr lang="en-US" sz="1100" dirty="0"/>
          </a:p>
        </p:txBody>
      </p:sp>
      <p:sp>
        <p:nvSpPr>
          <p:cNvPr id="38" name="sk-div2"/>
          <p:cNvSpPr/>
          <p:nvPr/>
        </p:nvSpPr>
        <p:spPr>
          <a:xfrm>
            <a:off x="6300216" y="4590288"/>
            <a:ext cx="2395728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39" name="sk-ol2"/>
          <p:cNvSpPr txBox="1"/>
          <p:nvPr/>
        </p:nvSpPr>
        <p:spPr>
          <a:xfrm>
            <a:off x="6327648" y="4663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3"/>
                </a:solidFill>
              </a:rPr>
              <a:t>예상 결과물</a:t>
            </a:r>
            <a:endParaRPr lang="en-US" sz="1000" dirty="0"/>
          </a:p>
        </p:txBody>
      </p:sp>
      <p:sp>
        <p:nvSpPr>
          <p:cNvPr id="40" name="sk-o2"/>
          <p:cNvSpPr txBox="1"/>
          <p:nvPr/>
        </p:nvSpPr>
        <p:spPr>
          <a:xfrm>
            <a:off x="6272784" y="49194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교사 5개 + 학생 4개 화면 완성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배포 → 제출 → 피드백까지 된다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AI 기능은 예시 응답</a:t>
            </a:r>
            <a:endParaRPr lang="en-US" sz="1100" dirty="0"/>
          </a:p>
        </p:txBody>
      </p:sp>
      <p:sp>
        <p:nvSpPr>
          <p:cNvPr id="41" name="sk-dot3"/>
          <p:cNvSpPr/>
          <p:nvPr/>
        </p:nvSpPr>
        <p:spPr>
          <a:xfrm>
            <a:off x="9015984" y="138074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9C3D1"/>
            </a:solidFill>
            <a:prstDash val="solid"/>
          </a:ln>
        </p:spPr>
      </p:sp>
      <p:sp>
        <p:nvSpPr>
          <p:cNvPr id="42" name="sk-c3"/>
          <p:cNvSpPr/>
          <p:nvPr/>
        </p:nvSpPr>
        <p:spPr>
          <a:xfrm>
            <a:off x="8970264" y="1783080"/>
            <a:ext cx="2670048" cy="4160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25400">
            <a:solidFill>
              <a:srgbClr val="8FB0D3"/>
            </a:solidFill>
            <a:prstDash val="solid"/>
          </a:ln>
        </p:spPr>
      </p:sp>
      <p:sp>
        <p:nvSpPr>
          <p:cNvPr id="43" name="sk-h3"/>
          <p:cNvSpPr/>
          <p:nvPr/>
        </p:nvSpPr>
        <p:spPr>
          <a:xfrm>
            <a:off x="8970264" y="1783080"/>
            <a:ext cx="2670048" cy="822960"/>
          </a:xfrm>
          <a:prstGeom prst="roundRect">
            <a:avLst>
              <a:gd name="adj" fmla="val 11111"/>
            </a:avLst>
          </a:prstGeom>
          <a:solidFill>
            <a:srgbClr val="B4CBE4"/>
          </a:solidFill>
          <a:ln w="12700">
            <a:solidFill>
              <a:srgbClr val="B4CBE4"/>
            </a:solidFill>
            <a:prstDash val="solid"/>
          </a:ln>
        </p:spPr>
      </p:sp>
      <p:sp>
        <p:nvSpPr>
          <p:cNvPr id="44" name="sk-wk3"/>
          <p:cNvSpPr txBox="1"/>
          <p:nvPr/>
        </p:nvSpPr>
        <p:spPr>
          <a:xfrm>
            <a:off x="9134856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4주</a:t>
            </a:r>
            <a:endParaRPr lang="en-US" sz="1800" dirty="0"/>
          </a:p>
        </p:txBody>
      </p:sp>
      <p:sp>
        <p:nvSpPr>
          <p:cNvPr id="45" name="sk-dt3"/>
          <p:cNvSpPr txBox="1"/>
          <p:nvPr/>
        </p:nvSpPr>
        <p:spPr>
          <a:xfrm>
            <a:off x="9838944" y="18288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563"/>
                </a:solidFill>
              </a:rPr>
              <a:t>11/2 ~ 6</a:t>
            </a:r>
            <a:endParaRPr lang="en-US" sz="1200" dirty="0"/>
          </a:p>
        </p:txBody>
      </p:sp>
      <p:sp>
        <p:nvSpPr>
          <p:cNvPr id="46" name="sk-g3"/>
          <p:cNvSpPr txBox="1"/>
          <p:nvPr/>
        </p:nvSpPr>
        <p:spPr>
          <a:xfrm>
            <a:off x="9134856" y="22128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AI 시연 구성 · 마무리</a:t>
            </a:r>
            <a:endParaRPr lang="en-US" sz="1300" dirty="0"/>
          </a:p>
        </p:txBody>
      </p:sp>
      <p:sp>
        <p:nvSpPr>
          <p:cNvPr id="47" name="sk-tl3"/>
          <p:cNvSpPr txBox="1"/>
          <p:nvPr/>
        </p:nvSpPr>
        <p:spPr>
          <a:xfrm>
            <a:off x="9134856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</a:rPr>
              <a:t>할 일</a:t>
            </a:r>
            <a:endParaRPr lang="en-US" sz="1000" dirty="0"/>
          </a:p>
        </p:txBody>
      </p:sp>
      <p:sp>
        <p:nvSpPr>
          <p:cNvPr id="48" name="sk-b3"/>
          <p:cNvSpPr txBox="1"/>
          <p:nvPr/>
        </p:nvSpPr>
        <p:spPr>
          <a:xfrm>
            <a:off x="9079992" y="297180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AI 검색 시연: 말로 활동 찾기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서술형 답안 확인 시연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피드백 초안 · 학생 분류 시연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대시보드 조건 검색 시연</a:t>
            </a:r>
            <a:endParaRPr lang="en-US" sz="110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</a:rPr>
              <a:t>리뷰 반영 · 전체 점검</a:t>
            </a:r>
            <a:endParaRPr lang="en-US" sz="1100" dirty="0"/>
          </a:p>
        </p:txBody>
      </p:sp>
      <p:sp>
        <p:nvSpPr>
          <p:cNvPr id="49" name="sk-div3"/>
          <p:cNvSpPr/>
          <p:nvPr/>
        </p:nvSpPr>
        <p:spPr>
          <a:xfrm>
            <a:off x="9107424" y="4590288"/>
            <a:ext cx="2395728" cy="0"/>
          </a:xfrm>
          <a:prstGeom prst="line">
            <a:avLst/>
          </a:prstGeom>
          <a:noFill/>
          <a:ln w="12700">
            <a:solidFill>
              <a:srgbClr val="C9D1DC"/>
            </a:solidFill>
            <a:prstDash val="dash"/>
          </a:ln>
        </p:spPr>
      </p:sp>
      <p:sp>
        <p:nvSpPr>
          <p:cNvPr id="50" name="sk-ol3"/>
          <p:cNvSpPr txBox="1"/>
          <p:nvPr/>
        </p:nvSpPr>
        <p:spPr>
          <a:xfrm>
            <a:off x="9134856" y="4663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3"/>
                </a:solidFill>
              </a:rPr>
              <a:t>예상 결과물</a:t>
            </a:r>
            <a:endParaRPr lang="en-US" sz="1000" dirty="0"/>
          </a:p>
        </p:txBody>
      </p:sp>
      <p:sp>
        <p:nvSpPr>
          <p:cNvPr id="51" name="sk-o3"/>
          <p:cNvSpPr txBox="1"/>
          <p:nvPr/>
        </p:nvSpPr>
        <p:spPr>
          <a:xfrm>
            <a:off x="9079992" y="491947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AI 기능 4종 시연 (예시 데이터)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화면 14개가 한 흐름으로 이어진다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</a:rPr>
              <a:t>11/6 시연 가능한 프로토타입</a:t>
            </a:r>
            <a:endParaRPr lang="en-US" sz="1100" dirty="0"/>
          </a:p>
        </p:txBody>
      </p:sp>
      <p:sp>
        <p:nvSpPr>
          <p:cNvPr id="52" name="sk-end"/>
          <p:cNvSpPr/>
          <p:nvPr/>
        </p:nvSpPr>
        <p:spPr>
          <a:xfrm>
            <a:off x="11347704" y="136245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3" name="sk-end-t"/>
          <p:cNvSpPr txBox="1"/>
          <p:nvPr/>
        </p:nvSpPr>
        <p:spPr>
          <a:xfrm>
            <a:off x="9948672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44"/>
                </a:solidFill>
              </a:rPr>
              <a:t>11/6 마감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1F2A44"/>
      </a:dk1>
      <a:lt1>
        <a:srgbClr val="FFFFFF"/>
      </a:lt1>
      <a:dk2>
        <a:srgbClr val="4A5563"/>
      </a:dk2>
      <a:lt2>
        <a:srgbClr val="F3F5F8"/>
      </a:lt2>
      <a:accent1>
        <a:srgbClr val="C9DAEC"/>
      </a:accent1>
      <a:accent2>
        <a:srgbClr val="C9DAEC"/>
      </a:accent2>
      <a:accent3>
        <a:srgbClr val="D3E7DC"/>
      </a:accent3>
      <a:accent4>
        <a:srgbClr val="F1E3B0"/>
      </a:accent4>
      <a:accent5>
        <a:srgbClr val="EBCFD6"/>
      </a:accent5>
      <a:accent6>
        <a:srgbClr val="E2DDF0"/>
      </a:accent6>
      <a:hlink>
        <a:srgbClr val="2B4C7E"/>
      </a:hlink>
      <a:folHlink>
        <a:srgbClr val="5B8DC9"/>
      </a:folHlink>
    </a:clrScheme>
    <a:fontScheme name="Studi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수업활동 스튜디오 서비스 기획안</dc:title>
  <dc:subject>PptxGenJS Presentation</dc:subject>
  <dc:creator>PptxGenJS</dc:creator>
  <cp:lastModifiedBy>PptxGenJS</cp:lastModifiedBy>
  <cp:revision>1</cp:revision>
  <dcterms:created xsi:type="dcterms:W3CDTF">2026-10-16T06:15:25Z</dcterms:created>
  <dcterms:modified xsi:type="dcterms:W3CDTF">2026-10-16T06:15:25Z</dcterms:modified>
</cp:coreProperties>
</file>